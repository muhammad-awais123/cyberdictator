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88" r:id="rId3"/>
    <p:sldId id="28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embeddedFontLst>
    <p:embeddedFont>
      <p:font typeface="Arimo" panose="020B0604020202020204" charset="0"/>
      <p:regular r:id="rId37"/>
    </p:embeddedFont>
    <p:embeddedFont>
      <p:font typeface="Arimo Bold" panose="020B0604020202020204" charset="0"/>
      <p:regular r:id="rId38"/>
    </p:embeddedFont>
    <p:embeddedFont>
      <p:font typeface="Courier Prime" panose="020B0604020202020204" charset="0"/>
      <p:regular r:id="rId39"/>
      <p:bold r:id="rId40"/>
      <p:italic r:id="rId41"/>
      <p:boldItalic r:id="rId42"/>
    </p:embeddedFont>
    <p:embeddedFont>
      <p:font typeface="Urbanist" panose="020B0604020202020204" charset="0"/>
      <p:regular r:id="rId43"/>
      <p:bold r:id="rId44"/>
      <p:italic r:id="rId45"/>
      <p:boldItalic r:id="rId46"/>
    </p:embeddedFont>
    <p:embeddedFont>
      <p:font typeface="Urbanist Medium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D61A4A-C8ED-459E-8E3A-AD35D554AEF8}">
  <a:tblStyle styleId="{C1D61A4A-C8ED-459E-8E3A-AD35D554AE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C0B1C9B-3554-AE4B-C5FA-269634FF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70857D1-92C8-B046-1DA4-CD3326C86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5D379CA-F57C-F532-6ACD-2269311B9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73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20D892A-B9D2-3675-E748-F82C1B99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775BBD6-32AC-18CD-9D57-CD339018B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2E98346-648D-494E-6FA1-4DC58AB9E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148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6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6" descr="preencoded.png">
            <a:extLst>
              <a:ext uri="{FF2B5EF4-FFF2-40B4-BE49-F238E27FC236}">
                <a16:creationId xmlns:a16="http://schemas.microsoft.com/office/drawing/2014/main" id="{C5681B0B-F8E7-4441-F806-ECBF5DEF04E4}"/>
              </a:ext>
            </a:extLst>
          </p:cNvPr>
          <p:cNvSpPr/>
          <p:nvPr/>
        </p:nvSpPr>
        <p:spPr>
          <a:xfrm>
            <a:off x="3233530" y="0"/>
            <a:ext cx="5724940" cy="6470374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lum bright="70000" contrast="-7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A93E46FE-FFE1-705C-C45F-D7E3EE33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78446952-9AF9-880B-9FDA-D1AA341809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571080CE-7760-7D28-204C-35F1153260BC}"/>
              </a:ext>
            </a:extLst>
          </p:cNvPr>
          <p:cNvSpPr txBox="1"/>
          <p:nvPr/>
        </p:nvSpPr>
        <p:spPr>
          <a:xfrm>
            <a:off x="1838875" y="1576041"/>
            <a:ext cx="1925246" cy="373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mo Bold"/>
                <a:ea typeface="Arimo Bold"/>
                <a:cs typeface="Arimo Bold"/>
                <a:sym typeface="Arimo Bold"/>
              </a:rPr>
              <a:t>Presented by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35E4C8AD-7CC3-8621-645B-D62CF2D68E7D}"/>
              </a:ext>
            </a:extLst>
          </p:cNvPr>
          <p:cNvSpPr txBox="1"/>
          <p:nvPr/>
        </p:nvSpPr>
        <p:spPr>
          <a:xfrm>
            <a:off x="1838875" y="2639442"/>
            <a:ext cx="5163639" cy="87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mo Bold"/>
                <a:ea typeface="Arimo Bold"/>
                <a:cs typeface="Arimo Bold"/>
                <a:sym typeface="Arimo Bold"/>
              </a:rPr>
              <a:t>Faraz Ali</a:t>
            </a:r>
          </a:p>
          <a:p>
            <a:pPr algn="l">
              <a:lnSpc>
                <a:spcPts val="3562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Forensic Scientist, Analyst &amp; Investigator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563E66F-B58A-5257-E3B3-CDCB49F8F67C}"/>
              </a:ext>
            </a:extLst>
          </p:cNvPr>
          <p:cNvSpPr txBox="1"/>
          <p:nvPr/>
        </p:nvSpPr>
        <p:spPr>
          <a:xfrm>
            <a:off x="6848502" y="1062294"/>
            <a:ext cx="4180841" cy="4733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Forensics Degree from the University of East London, UK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Forensic Analyst (Punjab Forensic Science Agency)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Founding member of the Digital Forensic Community in Pakistan.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Forensic Consultant for Sindh and Khyber Pakhtunkhwa Forensic Laboratory.  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worked: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Blasphemy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 fraud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leak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Banking fraud</a:t>
            </a:r>
            <a:endParaRPr lang="en-US" alt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Terrorism 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Pornography 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Murder 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IED’s (improvised explosive device) </a:t>
            </a:r>
          </a:p>
        </p:txBody>
      </p:sp>
    </p:spTree>
    <p:extLst>
      <p:ext uri="{BB962C8B-B14F-4D97-AF65-F5344CB8AC3E}">
        <p14:creationId xmlns:p14="http://schemas.microsoft.com/office/powerpoint/2010/main" val="187266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4CCC916A-55C5-88E0-A6E5-55C66798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8293AC1A-C7D3-F302-D8AD-B758F65A93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AB775D94-F785-7022-7A07-456C7CAAD862}"/>
              </a:ext>
            </a:extLst>
          </p:cNvPr>
          <p:cNvSpPr txBox="1"/>
          <p:nvPr/>
        </p:nvSpPr>
        <p:spPr>
          <a:xfrm>
            <a:off x="295275" y="2042219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Certified </a:t>
            </a: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Ethical Hacking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928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1938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94798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Course Intro: </a:t>
            </a:r>
            <a:r>
              <a:rPr lang="en-US" sz="4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3-Month</a:t>
            </a: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Journey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871912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comprehensive path from foundational security to advanced penetration testing.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905000" y="2738437"/>
            <a:ext cx="83820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"Cybersecurity is much more than a matter of IT—it’s a </a:t>
            </a:r>
            <a:r>
              <a:rPr lang="en-US" sz="3600" b="0" i="1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business imperative</a:t>
            </a:r>
            <a:r>
              <a:rPr lang="en-US" sz="3600" b="0" i="1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." 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524000" y="4300537"/>
            <a:ext cx="9144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— Stéphane Nappo, Global CISO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571500" y="3057525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4.8M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71500" y="4391025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Unfilled Jobs Globally by 2026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6381750" y="3462337"/>
            <a:ext cx="5238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Information Security Analysts are among the top 15 fastest-growing roles. Companies are struggling to find "Battle-Ready" talent with the ethical hacker mindset.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Global Cybersecurity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Talent Gap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571500" y="449103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Certification in CEH often leads to a 20-25% increase in immediate earning potential.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Salary Benchmarks: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Market Growth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6286500" y="27193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"White Hat" Guard</a:t>
            </a:r>
            <a:endParaRPr/>
          </a:p>
        </p:txBody>
      </p:sp>
      <p:pic>
        <p:nvPicPr>
          <p:cNvPr id="130" name="Google Shape;13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1966912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6667500" y="30908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Authorized professionals identifying vulnerabilities.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6667500" y="350043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Acts as the "immune system" of digital infrastructure.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6667500" y="39100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Operates strictly with written </a:t>
            </a: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Authorization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6667500" y="431958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Focuses on remediation and defensive posture improvement.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Defining the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Ethical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Hacker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0908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5004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9100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31958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8572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Public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8572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Internet-facing infrastructure and open communication.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460370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Private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60370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Intranets, internal datasets, and corporate assets.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3501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Military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3501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Secured defense networks and intelligence systems.</a:t>
            </a:r>
            <a:endParaRPr/>
          </a:p>
        </p:txBody>
      </p:sp>
      <p:pic>
        <p:nvPicPr>
          <p:cNvPr id="155" name="Google Shape;15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908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90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Five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Domains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of Cyberspace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25860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Taxonomy of Intent</a:t>
            </a:r>
            <a:endParaRPr/>
          </a:p>
        </p:txBody>
      </p:sp>
      <p:pic>
        <p:nvPicPr>
          <p:cNvPr id="167" name="Google Shape;16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6691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952500" y="29575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White Hat: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Full authorization, ethical goals.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52500" y="336708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Black Hat: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Malicious intent, illegal activities.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52500" y="377666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Gray Hat: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Unauthorized entry but often without malicious intent (Curiosity/Bounty).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952500" y="44529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Blue Hat: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Outside security testers invited to find bugs before a launch.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Understanding the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Hat Palette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575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670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766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5293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8572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State-Sponsored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572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Nation-state units targeting critical infrastructure.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460370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Red Hats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60370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Vigilantes using aggressive tactics against black hats.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83501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Suicide Hackers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3501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Destructive actors with no fear of capture or consequences.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90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908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908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Profiling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Advanced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Threat Actors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571500" y="4090987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16254" y="3819525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Dormant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42291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Hidden in host system awaiting trigger.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3462605" y="3819525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Propagation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3517850" y="42291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Replicating across files and networks.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408955" y="3819525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Triggering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464200" y="42291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Logic bomb condition is finally met.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9355306" y="3819525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Execution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410551" y="42291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Payload delivers malicious damage.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Four Stages: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Virus Lifecycle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485900" y="32480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432250" y="32480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378600" y="32480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0324951" y="32480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952500" y="311467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Memory-Resident: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Lives in RAM, evading traditional disk-based scanners.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952500" y="35242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Macro Viruses: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Exploits scripting capabilities in Office documents.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952500" y="39338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Direct Action: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Executes immediately upon file launch and then vanishes.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52500" y="434340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Stealth Malware: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Actively hides its presence from anti-virus detection engines.</a:t>
            </a:r>
            <a:endParaRPr/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338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1480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5575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9671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4376737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Classifying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Modern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Malware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146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34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8572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Infection Vector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8572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mechanism used to spread (Email, USB, Web).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460370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Trigger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460370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specific condition that activates the virus.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83501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Malicious Payload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83501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actual code that performs the harmful action.</a:t>
            </a:r>
            <a:endParaRPr/>
          </a:p>
        </p:txBody>
      </p:sp>
      <p:pic>
        <p:nvPicPr>
          <p:cNvPr id="250" name="Google Shape;25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Anatomy of a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Digital Virus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571500" y="28527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Beyond Email</a:t>
            </a:r>
            <a:endParaRPr/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6691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952500" y="32242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Phishing: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Bulk fraudulent emails to steal credentials.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952500" y="363378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Vishing: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Voice-based phishing using AI deepfakes.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952500" y="40433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Smishing: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SMS-based attacks targeting mobile users.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952500" y="445293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Quishing: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Malicious QR codes leading to fake login pages.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Social Engineering: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Phishing</a:t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242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337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33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5293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 txBox="1"/>
          <p:nvPr/>
        </p:nvSpPr>
        <p:spPr>
          <a:xfrm>
            <a:off x="3362325" y="5940772"/>
            <a:ext cx="546735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DDoS volume has increased by 150% YoY, with 2026 seeing the rise of AI-coordinated botnets.</a:t>
            </a:r>
            <a:endParaRPr/>
          </a:p>
        </p:txBody>
      </p:sp>
      <p:pic>
        <p:nvPicPr>
          <p:cNvPr id="280" name="Google Shape;28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3961"/>
            <a:ext cx="1104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DoS and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DDoS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Attack Trends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571500" y="25860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Digital Eavesdropping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952500" y="295751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Attacker intercepts communication between User and Server.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952500" y="363378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Enables data sniffing, credential theft, and data alteration.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952500" y="40433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Common via ARP Poisoning and Rogue Wi-Fi Hotspots.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952500" y="44529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Countermeasure: Robust end-to-end encryption (TLS/SSL).</a:t>
            </a:r>
            <a:endParaRPr/>
          </a:p>
        </p:txBody>
      </p:sp>
      <p:pic>
        <p:nvPicPr>
          <p:cNvPr id="294" name="Google Shape;29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2135" y="36242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3606" y="36242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5077" y="36242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6548" y="36242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18018" y="36242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Man-in-the-Middle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Operations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29575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6337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0433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45293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571500" y="450532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disciplined, repeatable methodology used by professional penetration testers.</a:t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571500" y="3624262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516254" y="3810000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Recon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2726055" y="3810000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Scanning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4935855" y="3810000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Access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7145655" y="3810000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Maintain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9355455" y="3810000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Cleanup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5 Phases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of Ethical Hacking</a:t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1485900" y="3238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3695700" y="3238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5905500" y="3238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8115300" y="3238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10325100" y="3238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5075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05075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05075"/>
            <a:ext cx="35559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857250" y="347662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theHarvester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857250" y="394335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Open source intelligence for gathering emails and subdomains.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4603700" y="347662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Maltego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4603700" y="3943350"/>
            <a:ext cx="29844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Graphical tool for mapping infrastructure and human relationships.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8350150" y="347662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Google Dorks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8350150" y="394335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Advanced search operators to find sensitive exposed data.</a:t>
            </a:r>
            <a:endParaRPr/>
          </a:p>
        </p:txBody>
      </p:sp>
      <p:pic>
        <p:nvPicPr>
          <p:cNvPr id="338" name="Google Shape;338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8575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8575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857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Phase 1: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Reconnaissance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Toolset</a:t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 txBox="1"/>
          <p:nvPr/>
        </p:nvSpPr>
        <p:spPr>
          <a:xfrm>
            <a:off x="571500" y="24622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Mastering Nmap</a:t>
            </a:r>
            <a:endParaRPr/>
          </a:p>
        </p:txBody>
      </p:sp>
      <p:pic>
        <p:nvPicPr>
          <p:cNvPr id="349" name="Google Shape;34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1787"/>
            <a:ext cx="5334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0"/>
          <p:cNvSpPr txBox="1"/>
          <p:nvPr/>
        </p:nvSpPr>
        <p:spPr>
          <a:xfrm>
            <a:off x="8267700" y="3557587"/>
            <a:ext cx="137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PORT STATE SERVICE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 80/tcp open http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 443/tcp open https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 22/tcp open ssh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952500" y="361473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-sV: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Service version detection.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952500" y="40243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-O: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Operating System fingerprinting.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952500" y="443388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-A: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Aggressive scan (Scripts, OS, Traceroute).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952500" y="48434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-p-: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Scans all 65,535 ports.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Phase 2: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Scanning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&amp; Enumeration</a:t>
            </a: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147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43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338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4346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31"/>
          <p:cNvGraphicFramePr/>
          <p:nvPr/>
        </p:nvGraphicFramePr>
        <p:xfrm>
          <a:off x="571500" y="2667000"/>
          <a:ext cx="11049000" cy="2390750"/>
        </p:xfrm>
        <a:graphic>
          <a:graphicData uri="http://schemas.openxmlformats.org/drawingml/2006/table">
            <a:tbl>
              <a:tblPr firstRow="1" bandRow="1">
                <a:noFill/>
                <a:tableStyleId>{C1D61A4A-C8ED-459E-8E3A-AD35D554AEF8}</a:tableStyleId>
              </a:tblPr>
              <a:tblGrid>
                <a:gridCol w="196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Functionality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Nessus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Network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Global gold standard for enterprise vuln assessment.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Nikto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Web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Checks for dangerous files and outdated server software.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OpenVAS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 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Framework of several services for vuln scanning.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OWASP ZAP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Web App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Proxy-based tool for intercepting web traffic.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7" name="Google Shape;367;p31"/>
          <p:cNvSpPr/>
          <p:nvPr/>
        </p:nvSpPr>
        <p:spPr>
          <a:xfrm>
            <a:off x="571500" y="3124200"/>
            <a:ext cx="196021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2531715" y="3124200"/>
            <a:ext cx="199265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4524375" y="3124200"/>
            <a:ext cx="709612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571500" y="3614737"/>
            <a:ext cx="19602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2531715" y="3614737"/>
            <a:ext cx="19926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4524375" y="3614737"/>
            <a:ext cx="70961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571500" y="4090987"/>
            <a:ext cx="19602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2531715" y="4090987"/>
            <a:ext cx="19926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4524375" y="4090987"/>
            <a:ext cx="70961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571500" y="4567237"/>
            <a:ext cx="19602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2531715" y="4567237"/>
            <a:ext cx="19926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4524375" y="4567237"/>
            <a:ext cx="70961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571500" y="5043487"/>
            <a:ext cx="19602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2531715" y="5043487"/>
            <a:ext cx="19926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4524375" y="5043487"/>
            <a:ext cx="70961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Vulnerability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Platforms</a:t>
            </a: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2"/>
          <p:cNvSpPr txBox="1"/>
          <p:nvPr/>
        </p:nvSpPr>
        <p:spPr>
          <a:xfrm>
            <a:off x="762000" y="5715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Phase 3: Gaining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Access</a:t>
            </a:r>
            <a:endParaRPr/>
          </a:p>
        </p:txBody>
      </p:sp>
      <p:sp>
        <p:nvSpPr>
          <p:cNvPr id="390" name="Google Shape;390;p32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2"/>
          <p:cNvSpPr txBox="1"/>
          <p:nvPr/>
        </p:nvSpPr>
        <p:spPr>
          <a:xfrm>
            <a:off x="571500" y="143827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Metasploit Framework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571500" y="1847850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world's most used exploitation framework, providing developers and security professionals with the tools to find, exploit, and validate vulnerabilities.</a:t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571500" y="2933700"/>
            <a:ext cx="4953000" cy="1257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>
            <a:off x="666750" y="3028950"/>
            <a:ext cx="4762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msfconsole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 use exploit/unix/ftp/vsftpd_234_backdoor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 set RHOSTS [target]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EFF9A"/>
                </a:solidFill>
                <a:latin typeface="Courier Prime"/>
                <a:ea typeface="Courier Prime"/>
                <a:cs typeface="Courier Prime"/>
                <a:sym typeface="Courier Prime"/>
              </a:rPr>
              <a:t> exploit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3"/>
          <p:cNvSpPr txBox="1"/>
          <p:nvPr/>
        </p:nvSpPr>
        <p:spPr>
          <a:xfrm>
            <a:off x="8572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Dictionary</a:t>
            </a:r>
            <a:endParaRPr/>
          </a:p>
        </p:txBody>
      </p:sp>
      <p:sp>
        <p:nvSpPr>
          <p:cNvPr id="405" name="Google Shape;405;p33"/>
          <p:cNvSpPr txBox="1"/>
          <p:nvPr/>
        </p:nvSpPr>
        <p:spPr>
          <a:xfrm>
            <a:off x="8572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Testing millions of words against hashes.</a:t>
            </a:r>
            <a:endParaRPr/>
          </a:p>
        </p:txBody>
      </p:sp>
      <p:sp>
        <p:nvSpPr>
          <p:cNvPr id="406" name="Google Shape;406;p33"/>
          <p:cNvSpPr txBox="1"/>
          <p:nvPr/>
        </p:nvSpPr>
        <p:spPr>
          <a:xfrm>
            <a:off x="460370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Brute Force</a:t>
            </a:r>
            <a:endParaRPr/>
          </a:p>
        </p:txBody>
      </p:sp>
      <p:sp>
        <p:nvSpPr>
          <p:cNvPr id="407" name="Google Shape;407;p33"/>
          <p:cNvSpPr txBox="1"/>
          <p:nvPr/>
        </p:nvSpPr>
        <p:spPr>
          <a:xfrm>
            <a:off x="460370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Trying every possible character combination.</a:t>
            </a:r>
            <a:endParaRPr/>
          </a:p>
        </p:txBody>
      </p:sp>
      <p:sp>
        <p:nvSpPr>
          <p:cNvPr id="408" name="Google Shape;408;p33"/>
          <p:cNvSpPr txBox="1"/>
          <p:nvPr/>
        </p:nvSpPr>
        <p:spPr>
          <a:xfrm>
            <a:off x="83501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Custom Rules</a:t>
            </a:r>
            <a:endParaRPr/>
          </a:p>
        </p:txBody>
      </p:sp>
      <p:sp>
        <p:nvSpPr>
          <p:cNvPr id="409" name="Google Shape;409;p33"/>
          <p:cNvSpPr txBox="1"/>
          <p:nvPr/>
        </p:nvSpPr>
        <p:spPr>
          <a:xfrm>
            <a:off x="83501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Mutilating words (e.g., adding "2026!") for efficiency.</a:t>
            </a:r>
            <a:endParaRPr/>
          </a:p>
        </p:txBody>
      </p:sp>
      <p:pic>
        <p:nvPicPr>
          <p:cNvPr id="410" name="Google Shape;410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90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Password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Cracking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Methodology</a:t>
            </a:r>
            <a:endParaRPr/>
          </a:p>
        </p:txBody>
      </p:sp>
      <p:sp>
        <p:nvSpPr>
          <p:cNvPr id="414" name="Google Shape;414;p33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9311" y="2881312"/>
            <a:ext cx="5078313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9311" y="3919537"/>
            <a:ext cx="5078313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9311" y="4957762"/>
            <a:ext cx="5078313" cy="552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34"/>
          <p:cNvGraphicFramePr/>
          <p:nvPr/>
        </p:nvGraphicFramePr>
        <p:xfrm>
          <a:off x="571500" y="2062162"/>
          <a:ext cx="11049025" cy="8276260"/>
        </p:xfrm>
        <a:graphic>
          <a:graphicData uri="http://schemas.openxmlformats.org/drawingml/2006/table">
            <a:tbl>
              <a:tblPr firstRow="1" bandRow="1">
                <a:noFill/>
                <a:tableStyleId>{C1D61A4A-C8ED-459E-8E3A-AD35D554AEF8}</a:tableStyleId>
              </a:tblPr>
              <a:tblGrid>
                <a:gridCol w="234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Prefix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Example Structure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$1$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MD5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$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1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$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hash...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$5$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SHA-256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$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5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$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hash...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$6$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SHA-512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$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6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$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 hash...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 </a:t>
                      </a: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4" name="Google Shape;424;p34"/>
          <p:cNvSpPr/>
          <p:nvPr/>
        </p:nvSpPr>
        <p:spPr>
          <a:xfrm>
            <a:off x="571500" y="2519362"/>
            <a:ext cx="234463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2916138" y="2519362"/>
            <a:ext cx="334029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6256436" y="2519362"/>
            <a:ext cx="536406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571500" y="3571875"/>
            <a:ext cx="234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2916138" y="3571875"/>
            <a:ext cx="33402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6256436" y="3571875"/>
            <a:ext cx="536406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571500" y="4610100"/>
            <a:ext cx="234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2916138" y="4610100"/>
            <a:ext cx="33402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6256436" y="4610100"/>
            <a:ext cx="536406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571500" y="5648325"/>
            <a:ext cx="234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2916138" y="5648325"/>
            <a:ext cx="33402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6256436" y="5648325"/>
            <a:ext cx="536406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37436" y="3071812"/>
            <a:ext cx="6222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7436" y="4110037"/>
            <a:ext cx="6222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37436" y="5148262"/>
            <a:ext cx="6222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Identifying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Hashing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Algorithms</a:t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5"/>
          <p:cNvSpPr txBox="1"/>
          <p:nvPr/>
        </p:nvSpPr>
        <p:spPr>
          <a:xfrm>
            <a:off x="952500" y="311467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Backdoors: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Establishing hidden listeners for future unauthorized entry.</a:t>
            </a:r>
            <a:endParaRPr/>
          </a:p>
        </p:txBody>
      </p:sp>
      <p:sp>
        <p:nvSpPr>
          <p:cNvPr id="447" name="Google Shape;447;p35"/>
          <p:cNvSpPr txBox="1"/>
          <p:nvPr/>
        </p:nvSpPr>
        <p:spPr>
          <a:xfrm>
            <a:off x="952500" y="35242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New Admin Accounts: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Creating silent administrative profiles to bypass standard logins.</a:t>
            </a:r>
            <a:endParaRPr/>
          </a:p>
        </p:txBody>
      </p:sp>
      <p:sp>
        <p:nvSpPr>
          <p:cNvPr id="448" name="Google Shape;448;p35"/>
          <p:cNvSpPr txBox="1"/>
          <p:nvPr/>
        </p:nvSpPr>
        <p:spPr>
          <a:xfrm>
            <a:off x="952500" y="39338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Rootkits: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Deep-level software that hides itself and other malware from the OS.</a:t>
            </a:r>
            <a:endParaRPr/>
          </a:p>
        </p:txBody>
      </p:sp>
      <p:sp>
        <p:nvSpPr>
          <p:cNvPr id="449" name="Google Shape;449;p35"/>
          <p:cNvSpPr txBox="1"/>
          <p:nvPr/>
        </p:nvSpPr>
        <p:spPr>
          <a:xfrm>
            <a:off x="952500" y="434340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Lateral Movement: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Moving from the initial target to other network segments.</a:t>
            </a:r>
            <a:endParaRPr/>
          </a:p>
        </p:txBody>
      </p:sp>
      <p:pic>
        <p:nvPicPr>
          <p:cNvPr id="450" name="Google Shape;45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33825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Phase 4: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Maintaining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Access</a:t>
            </a:r>
            <a:endParaRPr/>
          </a:p>
        </p:txBody>
      </p:sp>
      <p:sp>
        <p:nvSpPr>
          <p:cNvPr id="457" name="Google Shape;457;p3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146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34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6"/>
          <p:cNvSpPr txBox="1"/>
          <p:nvPr/>
        </p:nvSpPr>
        <p:spPr>
          <a:xfrm>
            <a:off x="8572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Log Erasure</a:t>
            </a:r>
            <a:endParaRPr/>
          </a:p>
        </p:txBody>
      </p:sp>
      <p:sp>
        <p:nvSpPr>
          <p:cNvPr id="469" name="Google Shape;469;p36"/>
          <p:cNvSpPr txBox="1"/>
          <p:nvPr/>
        </p:nvSpPr>
        <p:spPr>
          <a:xfrm>
            <a:off x="8572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Deleting entries in /var/log/ or Windows Event Logs.</a:t>
            </a:r>
            <a:endParaRPr/>
          </a:p>
        </p:txBody>
      </p:sp>
      <p:sp>
        <p:nvSpPr>
          <p:cNvPr id="470" name="Google Shape;470;p36"/>
          <p:cNvSpPr txBox="1"/>
          <p:nvPr/>
        </p:nvSpPr>
        <p:spPr>
          <a:xfrm>
            <a:off x="460370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Timestomping</a:t>
            </a:r>
            <a:endParaRPr/>
          </a:p>
        </p:txBody>
      </p:sp>
      <p:sp>
        <p:nvSpPr>
          <p:cNvPr id="471" name="Google Shape;471;p36"/>
          <p:cNvSpPr txBox="1"/>
          <p:nvPr/>
        </p:nvSpPr>
        <p:spPr>
          <a:xfrm>
            <a:off x="460370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Modifying file access/edit times to confuse forensics.</a:t>
            </a:r>
            <a:endParaRPr/>
          </a:p>
        </p:txBody>
      </p:sp>
      <p:sp>
        <p:nvSpPr>
          <p:cNvPr id="472" name="Google Shape;472;p36"/>
          <p:cNvSpPr txBox="1"/>
          <p:nvPr/>
        </p:nvSpPr>
        <p:spPr>
          <a:xfrm>
            <a:off x="83501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Tool Removal</a:t>
            </a:r>
            <a:endParaRPr/>
          </a:p>
        </p:txBody>
      </p:sp>
      <p:sp>
        <p:nvSpPr>
          <p:cNvPr id="473" name="Google Shape;473;p36"/>
          <p:cNvSpPr txBox="1"/>
          <p:nvPr/>
        </p:nvSpPr>
        <p:spPr>
          <a:xfrm>
            <a:off x="83501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Securely deleting all scripts and binaries used in the hack.</a:t>
            </a:r>
            <a:endParaRPr/>
          </a:p>
        </p:txBody>
      </p:sp>
      <p:pic>
        <p:nvPicPr>
          <p:cNvPr id="474" name="Google Shape;474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90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908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Phase 5: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Clearing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Tracks</a:t>
            </a:r>
            <a:endParaRPr/>
          </a:p>
        </p:txBody>
      </p:sp>
      <p:sp>
        <p:nvSpPr>
          <p:cNvPr id="478" name="Google Shape;478;p3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7"/>
          <p:cNvSpPr txBox="1"/>
          <p:nvPr/>
        </p:nvSpPr>
        <p:spPr>
          <a:xfrm>
            <a:off x="6286500" y="301466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Shared Responsibility</a:t>
            </a:r>
            <a:endParaRPr/>
          </a:p>
        </p:txBody>
      </p:sp>
      <p:sp>
        <p:nvSpPr>
          <p:cNvPr id="486" name="Google Shape;486;p37"/>
          <p:cNvSpPr txBox="1"/>
          <p:nvPr/>
        </p:nvSpPr>
        <p:spPr>
          <a:xfrm>
            <a:off x="6286500" y="3424237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the cloud, security is shared:</a:t>
            </a:r>
            <a:endParaRPr/>
          </a:p>
        </p:txBody>
      </p:sp>
      <p:sp>
        <p:nvSpPr>
          <p:cNvPr id="487" name="Google Shape;487;p37"/>
          <p:cNvSpPr txBox="1"/>
          <p:nvPr/>
        </p:nvSpPr>
        <p:spPr>
          <a:xfrm>
            <a:off x="6667500" y="388143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Provider: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Security OF the Cloud (Hardware/Infrastructure).</a:t>
            </a:r>
            <a:endParaRPr/>
          </a:p>
        </p:txBody>
      </p:sp>
      <p:sp>
        <p:nvSpPr>
          <p:cNvPr id="488" name="Google Shape;488;p37"/>
          <p:cNvSpPr txBox="1"/>
          <p:nvPr/>
        </p:nvSpPr>
        <p:spPr>
          <a:xfrm>
            <a:off x="6667500" y="42910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Customer: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Security IN the Cloud (Data, OS, Config).</a:t>
            </a:r>
            <a:endParaRPr/>
          </a:p>
        </p:txBody>
      </p:sp>
      <p:sp>
        <p:nvSpPr>
          <p:cNvPr id="489" name="Google Shape;489;p3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Cloud Security: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Responsibility</a:t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8814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29101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8"/>
          <p:cNvSpPr txBox="1"/>
          <p:nvPr/>
        </p:nvSpPr>
        <p:spPr>
          <a:xfrm>
            <a:off x="495300" y="2449142"/>
            <a:ext cx="5600700" cy="43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OT (operational technology )and SCADA (supervisory control and data acquisition)</a:t>
            </a:r>
            <a:endParaRPr dirty="0"/>
          </a:p>
        </p:txBody>
      </p:sp>
      <p:pic>
        <p:nvPicPr>
          <p:cNvPr id="500" name="Google Shape;50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6691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 txBox="1"/>
          <p:nvPr/>
        </p:nvSpPr>
        <p:spPr>
          <a:xfrm>
            <a:off x="952500" y="30908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Operational Technology (OT) controls physical processes.</a:t>
            </a:r>
            <a:endParaRPr/>
          </a:p>
        </p:txBody>
      </p:sp>
      <p:sp>
        <p:nvSpPr>
          <p:cNvPr id="502" name="Google Shape;502;p38"/>
          <p:cNvSpPr txBox="1"/>
          <p:nvPr/>
        </p:nvSpPr>
        <p:spPr>
          <a:xfrm>
            <a:off x="952500" y="350043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Vulnerabilities in power grids, water, and transport.</a:t>
            </a:r>
            <a:endParaRPr/>
          </a:p>
        </p:txBody>
      </p:sp>
      <p:sp>
        <p:nvSpPr>
          <p:cNvPr id="503" name="Google Shape;503;p38"/>
          <p:cNvSpPr txBox="1"/>
          <p:nvPr/>
        </p:nvSpPr>
        <p:spPr>
          <a:xfrm>
            <a:off x="952500" y="39100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Legacy hardware often lacks modern authentication.</a:t>
            </a:r>
            <a:endParaRPr/>
          </a:p>
        </p:txBody>
      </p:sp>
      <p:sp>
        <p:nvSpPr>
          <p:cNvPr id="504" name="Google Shape;504;p38"/>
          <p:cNvSpPr txBox="1"/>
          <p:nvPr/>
        </p:nvSpPr>
        <p:spPr>
          <a:xfrm>
            <a:off x="952500" y="431958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Convergence: IT and OT networks are merging, increasing risk.</a:t>
            </a:r>
            <a:endParaRPr/>
          </a:p>
        </p:txBody>
      </p:sp>
      <p:sp>
        <p:nvSpPr>
          <p:cNvPr id="505" name="Google Shape;505;p3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Protecting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Critical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Infrastructure</a:t>
            </a:r>
            <a:endParaRPr/>
          </a:p>
        </p:txBody>
      </p:sp>
      <p:sp>
        <p:nvSpPr>
          <p:cNvPr id="506" name="Google Shape;506;p38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908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04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100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1958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5559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9"/>
          <p:cNvSpPr txBox="1"/>
          <p:nvPr/>
        </p:nvSpPr>
        <p:spPr>
          <a:xfrm>
            <a:off x="8572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Hardware</a:t>
            </a:r>
            <a:endParaRPr/>
          </a:p>
        </p:txBody>
      </p:sp>
      <p:sp>
        <p:nvSpPr>
          <p:cNvPr id="520" name="Google Shape;520;p39"/>
          <p:cNvSpPr txBox="1"/>
          <p:nvPr/>
        </p:nvSpPr>
        <p:spPr>
          <a:xfrm>
            <a:off x="8572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16GB+ RAM, Multi-core CPU, 256GB SSD Minimum.</a:t>
            </a:r>
            <a:endParaRPr/>
          </a:p>
        </p:txBody>
      </p:sp>
      <p:sp>
        <p:nvSpPr>
          <p:cNvPr id="521" name="Google Shape;521;p39"/>
          <p:cNvSpPr txBox="1"/>
          <p:nvPr/>
        </p:nvSpPr>
        <p:spPr>
          <a:xfrm>
            <a:off x="460370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Sandbox</a:t>
            </a:r>
            <a:endParaRPr/>
          </a:p>
        </p:txBody>
      </p:sp>
      <p:sp>
        <p:nvSpPr>
          <p:cNvPr id="522" name="Google Shape;522;p39"/>
          <p:cNvSpPr txBox="1"/>
          <p:nvPr/>
        </p:nvSpPr>
        <p:spPr>
          <a:xfrm>
            <a:off x="460370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VirtualBox or VMWare for isolated execution.</a:t>
            </a:r>
            <a:endParaRPr/>
          </a:p>
        </p:txBody>
      </p:sp>
      <p:sp>
        <p:nvSpPr>
          <p:cNvPr id="523" name="Google Shape;523;p39"/>
          <p:cNvSpPr txBox="1"/>
          <p:nvPr/>
        </p:nvSpPr>
        <p:spPr>
          <a:xfrm>
            <a:off x="8350150" y="3609975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Targets</a:t>
            </a:r>
            <a:endParaRPr/>
          </a:p>
        </p:txBody>
      </p:sp>
      <p:sp>
        <p:nvSpPr>
          <p:cNvPr id="524" name="Google Shape;524;p39"/>
          <p:cNvSpPr txBox="1"/>
          <p:nvPr/>
        </p:nvSpPr>
        <p:spPr>
          <a:xfrm>
            <a:off x="8350150" y="4076700"/>
            <a:ext cx="2984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Metasploitable 2 and DVWA for safe practice.</a:t>
            </a:r>
            <a:endParaRPr/>
          </a:p>
        </p:txBody>
      </p:sp>
      <p:pic>
        <p:nvPicPr>
          <p:cNvPr id="525" name="Google Shape;525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908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Building a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Professional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Lab</a:t>
            </a:r>
            <a:endParaRPr/>
          </a:p>
        </p:txBody>
      </p:sp>
      <p:sp>
        <p:nvSpPr>
          <p:cNvPr id="529" name="Google Shape;529;p3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0"/>
          <p:cNvSpPr txBox="1"/>
          <p:nvPr/>
        </p:nvSpPr>
        <p:spPr>
          <a:xfrm>
            <a:off x="6667500" y="284797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4,000+ Tools: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Pre-installed security arsenal.</a:t>
            </a:r>
            <a:endParaRPr/>
          </a:p>
        </p:txBody>
      </p:sp>
      <p:sp>
        <p:nvSpPr>
          <p:cNvPr id="537" name="Google Shape;537;p40"/>
          <p:cNvSpPr txBox="1"/>
          <p:nvPr/>
        </p:nvSpPr>
        <p:spPr>
          <a:xfrm>
            <a:off x="6667500" y="32575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Open Source: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Completely customizable Debian-based OS.</a:t>
            </a:r>
            <a:endParaRPr dirty="0"/>
          </a:p>
        </p:txBody>
      </p:sp>
      <p:sp>
        <p:nvSpPr>
          <p:cNvPr id="538" name="Google Shape;538;p40"/>
          <p:cNvSpPr txBox="1"/>
          <p:nvPr/>
        </p:nvSpPr>
        <p:spPr>
          <a:xfrm>
            <a:off x="6667500" y="37671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Live USB: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Can be run in forensics mode without touching disk.</a:t>
            </a:r>
            <a:endParaRPr dirty="0"/>
          </a:p>
        </p:txBody>
      </p:sp>
      <p:sp>
        <p:nvSpPr>
          <p:cNvPr id="539" name="Google Shape;539;p40"/>
          <p:cNvSpPr txBox="1"/>
          <p:nvPr/>
        </p:nvSpPr>
        <p:spPr>
          <a:xfrm>
            <a:off x="6667500" y="434340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ARM Support: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Compatible with Raspberry Pi for portable hacking.</a:t>
            </a:r>
            <a:endParaRPr/>
          </a:p>
        </p:txBody>
      </p:sp>
      <p:sp>
        <p:nvSpPr>
          <p:cNvPr id="540" name="Google Shape;540;p4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Kali Linux: The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Tool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Ecosystem</a:t>
            </a: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479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2575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8576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3434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1"/>
          <p:cNvSpPr txBox="1"/>
          <p:nvPr/>
        </p:nvSpPr>
        <p:spPr>
          <a:xfrm>
            <a:off x="571500" y="462915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Successfully passing both identifies you as a **CEH Master**.</a:t>
            </a:r>
            <a:endParaRPr/>
          </a:p>
        </p:txBody>
      </p:sp>
      <p:sp>
        <p:nvSpPr>
          <p:cNvPr id="552" name="Google Shape;552;p41"/>
          <p:cNvSpPr txBox="1"/>
          <p:nvPr/>
        </p:nvSpPr>
        <p:spPr>
          <a:xfrm>
            <a:off x="571500" y="2638425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125</a:t>
            </a:r>
            <a:endParaRPr/>
          </a:p>
        </p:txBody>
      </p:sp>
      <p:sp>
        <p:nvSpPr>
          <p:cNvPr id="553" name="Google Shape;553;p41"/>
          <p:cNvSpPr txBox="1"/>
          <p:nvPr/>
        </p:nvSpPr>
        <p:spPr>
          <a:xfrm>
            <a:off x="571500" y="3971925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Knowledge Questions (4 Hrs)</a:t>
            </a:r>
            <a:endParaRPr/>
          </a:p>
        </p:txBody>
      </p:sp>
      <p:sp>
        <p:nvSpPr>
          <p:cNvPr id="554" name="Google Shape;554;p41"/>
          <p:cNvSpPr txBox="1"/>
          <p:nvPr/>
        </p:nvSpPr>
        <p:spPr>
          <a:xfrm>
            <a:off x="6381750" y="2638425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</a:t>
            </a:r>
            <a:endParaRPr/>
          </a:p>
        </p:txBody>
      </p:sp>
      <p:sp>
        <p:nvSpPr>
          <p:cNvPr id="555" name="Google Shape;555;p41"/>
          <p:cNvSpPr txBox="1"/>
          <p:nvPr/>
        </p:nvSpPr>
        <p:spPr>
          <a:xfrm>
            <a:off x="6381750" y="3971925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Practical Tasks (6 Hrs)</a:t>
            </a:r>
            <a:endParaRPr/>
          </a:p>
        </p:txBody>
      </p:sp>
      <p:sp>
        <p:nvSpPr>
          <p:cNvPr id="556" name="Google Shape;556;p4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CEH v13</a:t>
            </a: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Exam Strategy</a:t>
            </a:r>
            <a:endParaRPr/>
          </a:p>
        </p:txBody>
      </p:sp>
      <p:sp>
        <p:nvSpPr>
          <p:cNvPr id="557" name="Google Shape;557;p4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84219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2"/>
          <p:cNvSpPr txBox="1"/>
          <p:nvPr/>
        </p:nvSpPr>
        <p:spPr>
          <a:xfrm>
            <a:off x="295275" y="3080444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</a:t>
            </a: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Answers</a:t>
            </a:r>
            <a:endParaRPr/>
          </a:p>
        </p:txBody>
      </p:sp>
      <p:sp>
        <p:nvSpPr>
          <p:cNvPr id="566" name="Google Shape;566;p42"/>
          <p:cNvSpPr txBox="1"/>
          <p:nvPr/>
        </p:nvSpPr>
        <p:spPr>
          <a:xfrm>
            <a:off x="571500" y="437584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/>
          <p:nvPr/>
        </p:nvSpPr>
        <p:spPr>
          <a:xfrm>
            <a:off x="571500" y="1438275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571500" y="2340917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3"/>
          <p:cNvSpPr/>
          <p:nvPr/>
        </p:nvSpPr>
        <p:spPr>
          <a:xfrm>
            <a:off x="571500" y="3243560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3"/>
          <p:cNvSpPr/>
          <p:nvPr/>
        </p:nvSpPr>
        <p:spPr>
          <a:xfrm>
            <a:off x="571500" y="4146202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3"/>
          <p:cNvSpPr/>
          <p:nvPr/>
        </p:nvSpPr>
        <p:spPr>
          <a:xfrm>
            <a:off x="571500" y="504884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3"/>
          <p:cNvSpPr/>
          <p:nvPr/>
        </p:nvSpPr>
        <p:spPr>
          <a:xfrm>
            <a:off x="571500" y="2331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3"/>
          <p:cNvSpPr/>
          <p:nvPr/>
        </p:nvSpPr>
        <p:spPr>
          <a:xfrm>
            <a:off x="571500" y="2331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3"/>
          <p:cNvSpPr/>
          <p:nvPr/>
        </p:nvSpPr>
        <p:spPr>
          <a:xfrm>
            <a:off x="571500" y="32340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3"/>
          <p:cNvSpPr/>
          <p:nvPr/>
        </p:nvSpPr>
        <p:spPr>
          <a:xfrm>
            <a:off x="571500" y="32340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3"/>
          <p:cNvSpPr/>
          <p:nvPr/>
        </p:nvSpPr>
        <p:spPr>
          <a:xfrm>
            <a:off x="571500" y="41366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3"/>
          <p:cNvSpPr/>
          <p:nvPr/>
        </p:nvSpPr>
        <p:spPr>
          <a:xfrm>
            <a:off x="571500" y="41366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3"/>
          <p:cNvSpPr/>
          <p:nvPr/>
        </p:nvSpPr>
        <p:spPr>
          <a:xfrm>
            <a:off x="571500" y="50393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3"/>
          <p:cNvSpPr/>
          <p:nvPr/>
        </p:nvSpPr>
        <p:spPr>
          <a:xfrm>
            <a:off x="571500" y="50393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3"/>
          <p:cNvSpPr/>
          <p:nvPr/>
        </p:nvSpPr>
        <p:spPr>
          <a:xfrm>
            <a:off x="571500" y="58108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3"/>
          <p:cNvSpPr/>
          <p:nvPr/>
        </p:nvSpPr>
        <p:spPr>
          <a:xfrm>
            <a:off x="571500" y="58108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8" name="Google Shape;588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66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3"/>
          <p:cNvSpPr txBox="1"/>
          <p:nvPr/>
        </p:nvSpPr>
        <p:spPr>
          <a:xfrm>
            <a:off x="1666875" y="158115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https://media.istockphoto.com/id/1322051647/vector/black-white-incognito-hat-and-eyeglasses.jpg?s=612x612&amp;w=0&amp;k=20&amp;c=QOHvFwPcSyNfrVeWzqMviKljzjX0DYMmADS-9UMf6Xs=</a:t>
            </a:r>
            <a:endParaRPr/>
          </a:p>
        </p:txBody>
      </p:sp>
      <p:sp>
        <p:nvSpPr>
          <p:cNvPr id="590" name="Google Shape;590;p43"/>
          <p:cNvSpPr txBox="1"/>
          <p:nvPr/>
        </p:nvSpPr>
        <p:spPr>
          <a:xfrm>
            <a:off x="1666875" y="197524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id="591" name="Google Shape;591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492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3"/>
          <p:cNvSpPr txBox="1"/>
          <p:nvPr/>
        </p:nvSpPr>
        <p:spPr>
          <a:xfrm>
            <a:off x="1666875" y="2483792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https://static.vecteezy.com/system/resources/previews/067/827/004/non_2x/hi-tech-circuit-background-with-glowing-lines-blue-digital-network-on-dark-gradient-ideal-for-innovation-computing-and-futuristic-interfaces-clean-cyber-pattern-and-layout-illustration-vector.jpg</a:t>
            </a:r>
            <a:endParaRPr/>
          </a:p>
        </p:txBody>
      </p:sp>
      <p:sp>
        <p:nvSpPr>
          <p:cNvPr id="593" name="Google Shape;593;p43"/>
          <p:cNvSpPr txBox="1"/>
          <p:nvPr/>
        </p:nvSpPr>
        <p:spPr>
          <a:xfrm>
            <a:off x="1666875" y="2877889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594" name="Google Shape;594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519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3"/>
          <p:cNvSpPr txBox="1"/>
          <p:nvPr/>
        </p:nvSpPr>
        <p:spPr>
          <a:xfrm>
            <a:off x="1666875" y="338643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https://static.vecteezy.com/system/resources/thumbnails/075/998/760/large/an-envelope-hanging-from-a-sharp-metal-hook-serves-as-a-visual-metaphor-for-email-phishing-or-a-potential-digital-security-threat-free-video.jpg</a:t>
            </a:r>
            <a:endParaRPr/>
          </a:p>
        </p:txBody>
      </p:sp>
      <p:sp>
        <p:nvSpPr>
          <p:cNvPr id="596" name="Google Shape;596;p43"/>
          <p:cNvSpPr txBox="1"/>
          <p:nvPr/>
        </p:nvSpPr>
        <p:spPr>
          <a:xfrm>
            <a:off x="1666875" y="378053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597" name="Google Shape;597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545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3"/>
          <p:cNvSpPr txBox="1"/>
          <p:nvPr/>
        </p:nvSpPr>
        <p:spPr>
          <a:xfrm>
            <a:off x="1666875" y="4289077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https://img.nomios.com/images/Partners/A10-networks/ddos-attack-world-map-a10-networks.webp?auto=compress%2Cformat&amp;fit=max&amp;fm=jpg&amp;q=70&amp;w=2800&amp;s=9a7ac90e53531d7e5038e9dc383b3ed0</a:t>
            </a:r>
            <a:endParaRPr/>
          </a:p>
        </p:txBody>
      </p:sp>
      <p:sp>
        <p:nvSpPr>
          <p:cNvPr id="599" name="Google Shape;599;p43"/>
          <p:cNvSpPr txBox="1"/>
          <p:nvPr/>
        </p:nvSpPr>
        <p:spPr>
          <a:xfrm>
            <a:off x="1666875" y="468317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www.nomios.lu</a:t>
            </a:r>
            <a:endParaRPr/>
          </a:p>
        </p:txBody>
      </p:sp>
      <p:pic>
        <p:nvPicPr>
          <p:cNvPr id="600" name="Google Shape;600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917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3"/>
          <p:cNvSpPr txBox="1"/>
          <p:nvPr/>
        </p:nvSpPr>
        <p:spPr>
          <a:xfrm>
            <a:off x="1666875" y="5212705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https://www.kali.org/tools/metasploit-framework/images/metasploit-framework-logo.svg</a:t>
            </a:r>
            <a:endParaRPr/>
          </a:p>
        </p:txBody>
      </p:sp>
      <p:sp>
        <p:nvSpPr>
          <p:cNvPr id="602" name="Google Shape;602;p43"/>
          <p:cNvSpPr txBox="1"/>
          <p:nvPr/>
        </p:nvSpPr>
        <p:spPr>
          <a:xfrm>
            <a:off x="1666875" y="543356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www.kali.org</a:t>
            </a:r>
            <a:endParaRPr/>
          </a:p>
        </p:txBody>
      </p:sp>
      <p:pic>
        <p:nvPicPr>
          <p:cNvPr id="603" name="Google Shape;603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9632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 txBox="1"/>
          <p:nvPr/>
        </p:nvSpPr>
        <p:spPr>
          <a:xfrm>
            <a:off x="1666875" y="5984230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https://www.egr.msu.edu/decs/sites/default/files/content/Virtualbox/VB1_0.png</a:t>
            </a:r>
            <a:endParaRPr/>
          </a:p>
        </p:txBody>
      </p:sp>
      <p:sp>
        <p:nvSpPr>
          <p:cNvPr id="605" name="Google Shape;605;p43"/>
          <p:cNvSpPr txBox="1"/>
          <p:nvPr/>
        </p:nvSpPr>
        <p:spPr>
          <a:xfrm>
            <a:off x="1666875" y="620509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www.egr.msu.edu</a:t>
            </a:r>
            <a:endParaRPr/>
          </a:p>
        </p:txBody>
      </p:sp>
      <p:sp>
        <p:nvSpPr>
          <p:cNvPr id="606" name="Google Shape;606;p4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607" name="Google Shape;607;p43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4"/>
          <p:cNvSpPr/>
          <p:nvPr/>
        </p:nvSpPr>
        <p:spPr>
          <a:xfrm>
            <a:off x="571500" y="27098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4"/>
          <p:cNvSpPr/>
          <p:nvPr/>
        </p:nvSpPr>
        <p:spPr>
          <a:xfrm>
            <a:off x="571500" y="34813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4"/>
          <p:cNvSpPr/>
          <p:nvPr/>
        </p:nvSpPr>
        <p:spPr>
          <a:xfrm>
            <a:off x="571500" y="3471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571500" y="3471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571500" y="4243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571500" y="4243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9" name="Google Shape;619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2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4"/>
          <p:cNvSpPr txBox="1"/>
          <p:nvPr/>
        </p:nvSpPr>
        <p:spPr>
          <a:xfrm>
            <a:off x="1666875" y="28737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https://www.lianjer.com/wp-content/uploads/2025/10/Futuristic-SCADA-system-interface-with-AI-automation-and-cybersecurity-icons-around-central-control-hub.webp</a:t>
            </a:r>
            <a:endParaRPr/>
          </a:p>
        </p:txBody>
      </p:sp>
      <p:sp>
        <p:nvSpPr>
          <p:cNvPr id="621" name="Google Shape;621;p44"/>
          <p:cNvSpPr txBox="1"/>
          <p:nvPr/>
        </p:nvSpPr>
        <p:spPr>
          <a:xfrm>
            <a:off x="1666875" y="30945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www.lianjer.com</a:t>
            </a:r>
            <a:endParaRPr/>
          </a:p>
        </p:txBody>
      </p:sp>
      <p:pic>
        <p:nvPicPr>
          <p:cNvPr id="622" name="Google Shape;622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24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 txBox="1"/>
          <p:nvPr/>
        </p:nvSpPr>
        <p:spPr>
          <a:xfrm>
            <a:off x="1666875" y="36452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https://i.sstatic.net/Gns38.png</a:t>
            </a:r>
            <a:endParaRPr/>
          </a:p>
        </p:txBody>
      </p:sp>
      <p:sp>
        <p:nvSpPr>
          <p:cNvPr id="624" name="Google Shape;624;p44"/>
          <p:cNvSpPr txBox="1"/>
          <p:nvPr/>
        </p:nvSpPr>
        <p:spPr>
          <a:xfrm>
            <a:off x="1666875" y="38661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unix.stackexchange.com</a:t>
            </a:r>
            <a:endParaRPr/>
          </a:p>
        </p:txBody>
      </p:sp>
      <p:pic>
        <p:nvPicPr>
          <p:cNvPr id="625" name="Google Shape;625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95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1666875" y="44167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https://www.nicholls.edu/continuing-ed/wp-content/uploads/sites/32/2022/06/Screen-Shot-2022-06-02-at-8.30.38-AM-400x388.png</a:t>
            </a:r>
            <a:endParaRPr/>
          </a:p>
        </p:txBody>
      </p:sp>
      <p:sp>
        <p:nvSpPr>
          <p:cNvPr id="627" name="Google Shape;627;p44"/>
          <p:cNvSpPr txBox="1"/>
          <p:nvPr/>
        </p:nvSpPr>
        <p:spPr>
          <a:xfrm>
            <a:off x="1666875" y="46376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www.nicholls.edu</a:t>
            </a:r>
            <a:endParaRPr/>
          </a:p>
        </p:txBody>
      </p:sp>
      <p:sp>
        <p:nvSpPr>
          <p:cNvPr id="628" name="Google Shape;628;p4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629" name="Google Shape;629;p4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1506</Words>
  <Application>Microsoft Office PowerPoint</Application>
  <PresentationFormat>Widescreen</PresentationFormat>
  <Paragraphs>212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Courier Prime</vt:lpstr>
      <vt:lpstr>Arimo</vt:lpstr>
      <vt:lpstr>Urbanist Medium</vt:lpstr>
      <vt:lpstr>Times New Roman</vt:lpstr>
      <vt:lpstr>Arimo Bold</vt:lpstr>
      <vt:lpstr>Calibri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Faraz Ali</cp:lastModifiedBy>
  <cp:revision>4</cp:revision>
  <dcterms:modified xsi:type="dcterms:W3CDTF">2026-02-18T09:51:34Z</dcterms:modified>
</cp:coreProperties>
</file>
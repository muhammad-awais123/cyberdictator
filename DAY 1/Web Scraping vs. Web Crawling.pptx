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6858000" cx="12192000"/>
  <p:notesSz cx="6858000" cy="9144000"/>
  <p:embeddedFontLst>
    <p:embeddedFont>
      <p:font typeface="Poppins"/>
      <p:regular r:id="rId28"/>
      <p:bold r:id="rId29"/>
      <p:italic r:id="rId30"/>
      <p:boldItalic r:id="rId31"/>
    </p:embeddedFont>
    <p:embeddedFont>
      <p:font typeface="Lato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E49733D-1791-4AD5-9380-1F62B7088D4F}">
  <a:tblStyle styleId="{5E49733D-1791-4AD5-9380-1F62B7088D4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Poppins-regular.fntdata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oppins-boldItalic.fntdata"/><Relationship Id="rId30" Type="http://schemas.openxmlformats.org/officeDocument/2006/relationships/font" Target="fonts/Poppins-italic.fntdata"/><Relationship Id="rId11" Type="http://schemas.openxmlformats.org/officeDocument/2006/relationships/slide" Target="slides/slide5.xml"/><Relationship Id="rId33" Type="http://schemas.openxmlformats.org/officeDocument/2006/relationships/font" Target="fonts/Lato-bold.fntdata"/><Relationship Id="rId10" Type="http://schemas.openxmlformats.org/officeDocument/2006/relationships/slide" Target="slides/slide4.xml"/><Relationship Id="rId32" Type="http://schemas.openxmlformats.org/officeDocument/2006/relationships/font" Target="fonts/Lato-regular.fntdata"/><Relationship Id="rId13" Type="http://schemas.openxmlformats.org/officeDocument/2006/relationships/slide" Target="slides/slide7.xml"/><Relationship Id="rId35" Type="http://schemas.openxmlformats.org/officeDocument/2006/relationships/font" Target="fonts/Lato-boldItalic.fntdata"/><Relationship Id="rId12" Type="http://schemas.openxmlformats.org/officeDocument/2006/relationships/slide" Target="slides/slide6.xml"/><Relationship Id="rId34" Type="http://schemas.openxmlformats.org/officeDocument/2006/relationships/font" Target="fonts/Lato-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36.png"/><Relationship Id="rId5" Type="http://schemas.openxmlformats.org/officeDocument/2006/relationships/image" Target="../media/image8.png"/><Relationship Id="rId6" Type="http://schemas.openxmlformats.org/officeDocument/2006/relationships/image" Target="../media/image2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36.png"/><Relationship Id="rId5" Type="http://schemas.openxmlformats.org/officeDocument/2006/relationships/image" Target="../media/image4.png"/><Relationship Id="rId6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9" Type="http://schemas.openxmlformats.org/officeDocument/2006/relationships/image" Target="../media/image12.png"/><Relationship Id="rId5" Type="http://schemas.openxmlformats.org/officeDocument/2006/relationships/image" Target="../media/image7.png"/><Relationship Id="rId6" Type="http://schemas.openxmlformats.org/officeDocument/2006/relationships/image" Target="../media/image9.png"/><Relationship Id="rId7" Type="http://schemas.openxmlformats.org/officeDocument/2006/relationships/image" Target="../media/image44.png"/><Relationship Id="rId8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4.png"/><Relationship Id="rId5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40.png"/><Relationship Id="rId6" Type="http://schemas.openxmlformats.org/officeDocument/2006/relationships/image" Target="../media/image3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35.png"/><Relationship Id="rId5" Type="http://schemas.openxmlformats.org/officeDocument/2006/relationships/image" Target="../media/image23.png"/><Relationship Id="rId6" Type="http://schemas.openxmlformats.org/officeDocument/2006/relationships/image" Target="../media/image3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9" Type="http://schemas.openxmlformats.org/officeDocument/2006/relationships/image" Target="../media/image20.png"/><Relationship Id="rId5" Type="http://schemas.openxmlformats.org/officeDocument/2006/relationships/image" Target="../media/image7.png"/><Relationship Id="rId6" Type="http://schemas.openxmlformats.org/officeDocument/2006/relationships/image" Target="../media/image9.png"/><Relationship Id="rId7" Type="http://schemas.openxmlformats.org/officeDocument/2006/relationships/image" Target="../media/image38.png"/><Relationship Id="rId8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22.png"/><Relationship Id="rId5" Type="http://schemas.openxmlformats.org/officeDocument/2006/relationships/image" Target="../media/image2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3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image" Target="../media/image31.png"/><Relationship Id="rId5" Type="http://schemas.openxmlformats.org/officeDocument/2006/relationships/image" Target="../media/image2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41.png"/><Relationship Id="rId5" Type="http://schemas.openxmlformats.org/officeDocument/2006/relationships/image" Target="../media/image43.png"/><Relationship Id="rId6" Type="http://schemas.openxmlformats.org/officeDocument/2006/relationships/image" Target="../media/image34.png"/><Relationship Id="rId7" Type="http://schemas.openxmlformats.org/officeDocument/2006/relationships/image" Target="../media/image33.png"/><Relationship Id="rId8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19750" y="571500"/>
            <a:ext cx="9525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95275" y="1619250"/>
            <a:ext cx="11601450" cy="670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The Automated Web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2480220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563EB"/>
                </a:solidFill>
                <a:latin typeface="Lato"/>
                <a:ea typeface="Lato"/>
                <a:cs typeface="Lato"/>
                <a:sym typeface="Lato"/>
              </a:rPr>
              <a:t>Web Scraping vs. Web Crawling: Tools, Risks, and Regulation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295275" y="571500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295275" y="1714500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Foundations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571500" y="3067050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Definitions, Distinctions, and the Logic of Indexing</a:t>
            </a:r>
            <a:endParaRPr/>
          </a:p>
        </p:txBody>
      </p:sp>
      <p:sp>
        <p:nvSpPr>
          <p:cNvPr id="96" name="Google Shape;96;p14"/>
          <p:cNvSpPr/>
          <p:nvPr/>
        </p:nvSpPr>
        <p:spPr>
          <a:xfrm>
            <a:off x="5524500" y="3687960"/>
            <a:ext cx="1143000" cy="571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1" name="Google Shape;10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00250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/>
          <p:nvPr/>
        </p:nvSpPr>
        <p:spPr>
          <a:xfrm>
            <a:off x="571500" y="2542579"/>
            <a:ext cx="523875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Web crawling is the automated process of browsing the World Wide Web for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indexing purposes</a:t>
            </a: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 It is "discovery-focused."</a:t>
            </a:r>
            <a:endParaRPr/>
          </a:p>
        </p:txBody>
      </p:sp>
      <p:pic>
        <p:nvPicPr>
          <p:cNvPr descr="image.png" id="104" name="Google Shape;10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2009775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/>
        </p:nvSpPr>
        <p:spPr>
          <a:xfrm>
            <a:off x="1000125" y="3757612"/>
            <a:ext cx="48101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Primary goal is to map and index site structures.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1000125" y="4330898"/>
            <a:ext cx="48101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Essential for search engines like Google or Bing.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1000125" y="4904184"/>
            <a:ext cx="48101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Follows links (hyperlinks) from one page to another.</a:t>
            </a:r>
            <a:endParaRPr/>
          </a:p>
        </p:txBody>
      </p:sp>
      <p:pic>
        <p:nvPicPr>
          <p:cNvPr descr="image.png" id="108" name="Google Shape;108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82428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397573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970859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What is Web Crawling?</a:t>
            </a:r>
            <a:endParaRPr/>
          </a:p>
        </p:txBody>
      </p:sp>
      <p:sp>
        <p:nvSpPr>
          <p:cNvPr id="112" name="Google Shape;112;p15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7" name="Google Shape;11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00250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/>
          <p:nvPr/>
        </p:nvSpPr>
        <p:spPr>
          <a:xfrm>
            <a:off x="571500" y="2710160"/>
            <a:ext cx="5238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Data scraping is the specialized process of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extracting specific data</a:t>
            </a: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from web pages. It is "information-focused."</a:t>
            </a:r>
            <a:endParaRPr/>
          </a:p>
        </p:txBody>
      </p:sp>
      <p:pic>
        <p:nvPicPr>
          <p:cNvPr descr="image.png" id="120" name="Google Shape;12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2009775"/>
            <a:ext cx="263842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/>
          <p:nvPr/>
        </p:nvSpPr>
        <p:spPr>
          <a:xfrm>
            <a:off x="1000125" y="3590032"/>
            <a:ext cx="48101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Pulls data points like prices, reviews, or emails.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1000125" y="4163317"/>
            <a:ext cx="48101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Transforms unstructured HTML into structured data.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1000125" y="4736603"/>
            <a:ext cx="48101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Often targeted at specific pages or data sets.</a:t>
            </a:r>
            <a:endParaRPr/>
          </a:p>
        </p:txBody>
      </p:sp>
      <p:pic>
        <p:nvPicPr>
          <p:cNvPr descr="image.png" id="124" name="Google Shape;124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656707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22999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803278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What is Data Scraping?</a:t>
            </a:r>
            <a:endParaRPr/>
          </a:p>
        </p:txBody>
      </p:sp>
      <p:sp>
        <p:nvSpPr>
          <p:cNvPr id="128" name="Google Shape;128;p16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3" name="Google Shape;13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4" name="Google Shape;134;p17"/>
          <p:cNvGraphicFramePr/>
          <p:nvPr/>
        </p:nvGraphicFramePr>
        <p:xfrm>
          <a:off x="571500" y="245268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{5E49733D-1791-4AD5-9380-1F62B7088D4F}</a:tableStyleId>
              </a:tblPr>
              <a:tblGrid>
                <a:gridCol w="2074075"/>
                <a:gridCol w="4028625"/>
                <a:gridCol w="4946300"/>
              </a:tblGrid>
              <a:tr h="61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Feature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Web Crawling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Data Scraping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Primary Goal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Discovery and Indexing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Information Extraction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Scope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Broad and Massive (Universal)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Specific and Granular (Targeted)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DFD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Outcome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 Search Engine Index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 Structured Spreadsheet or Database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Technique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Following Hyperlinks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Parsing HTML Elements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DFD"/>
                    </a:solidFill>
                  </a:tcPr>
                </a:tc>
              </a:tr>
            </a:tbl>
          </a:graphicData>
        </a:graphic>
      </p:graphicFrame>
      <p:sp>
        <p:nvSpPr>
          <p:cNvPr id="135" name="Google Shape;135;p17"/>
          <p:cNvSpPr/>
          <p:nvPr/>
        </p:nvSpPr>
        <p:spPr>
          <a:xfrm>
            <a:off x="571500" y="3676650"/>
            <a:ext cx="207406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7"/>
          <p:cNvSpPr/>
          <p:nvPr/>
        </p:nvSpPr>
        <p:spPr>
          <a:xfrm>
            <a:off x="2645568" y="3676650"/>
            <a:ext cx="402862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7"/>
          <p:cNvSpPr/>
          <p:nvPr/>
        </p:nvSpPr>
        <p:spPr>
          <a:xfrm>
            <a:off x="6674197" y="3676650"/>
            <a:ext cx="494630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7"/>
          <p:cNvSpPr/>
          <p:nvPr/>
        </p:nvSpPr>
        <p:spPr>
          <a:xfrm>
            <a:off x="571500" y="4295775"/>
            <a:ext cx="207406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7"/>
          <p:cNvSpPr/>
          <p:nvPr/>
        </p:nvSpPr>
        <p:spPr>
          <a:xfrm>
            <a:off x="2645568" y="4295775"/>
            <a:ext cx="402862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/>
          <p:nvPr/>
        </p:nvSpPr>
        <p:spPr>
          <a:xfrm>
            <a:off x="6674197" y="4295775"/>
            <a:ext cx="494630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7"/>
          <p:cNvSpPr/>
          <p:nvPr/>
        </p:nvSpPr>
        <p:spPr>
          <a:xfrm>
            <a:off x="571500" y="4914900"/>
            <a:ext cx="207406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7"/>
          <p:cNvSpPr/>
          <p:nvPr/>
        </p:nvSpPr>
        <p:spPr>
          <a:xfrm>
            <a:off x="2645568" y="4914900"/>
            <a:ext cx="402862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/>
          <p:nvPr/>
        </p:nvSpPr>
        <p:spPr>
          <a:xfrm>
            <a:off x="6674197" y="4914900"/>
            <a:ext cx="494630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/>
          <p:nvPr/>
        </p:nvSpPr>
        <p:spPr>
          <a:xfrm>
            <a:off x="571500" y="5534025"/>
            <a:ext cx="207406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/>
          <p:nvPr/>
        </p:nvSpPr>
        <p:spPr>
          <a:xfrm>
            <a:off x="2645568" y="5534025"/>
            <a:ext cx="402862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/>
          <p:nvPr/>
        </p:nvSpPr>
        <p:spPr>
          <a:xfrm>
            <a:off x="6674197" y="5534025"/>
            <a:ext cx="494630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Crawling vs. Scraping: A Comparison</a:t>
            </a:r>
            <a:endParaRPr/>
          </a:p>
        </p:txBody>
      </p:sp>
      <p:sp>
        <p:nvSpPr>
          <p:cNvPr id="148" name="Google Shape;148;p17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3" name="Google Shape;15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8"/>
          <p:cNvSpPr txBox="1"/>
          <p:nvPr/>
        </p:nvSpPr>
        <p:spPr>
          <a:xfrm>
            <a:off x="295275" y="571500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295275" y="1714500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The Scraper's Toolkit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571500" y="3067050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Popular Tools, Libraries, and Technical Workflows</a:t>
            </a:r>
            <a:endParaRPr/>
          </a:p>
        </p:txBody>
      </p:sp>
      <p:sp>
        <p:nvSpPr>
          <p:cNvPr id="157" name="Google Shape;157;p18"/>
          <p:cNvSpPr/>
          <p:nvPr/>
        </p:nvSpPr>
        <p:spPr>
          <a:xfrm>
            <a:off x="5524500" y="3687960"/>
            <a:ext cx="1143000" cy="571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2" name="Google Shape;16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58590"/>
            <a:ext cx="3492549" cy="36933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058590"/>
            <a:ext cx="3492549" cy="36933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058590"/>
            <a:ext cx="3492549" cy="3693318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952500" y="3173015"/>
            <a:ext cx="286707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BeautifulSoup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952500" y="3782615"/>
            <a:ext cx="2730549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 Python library for parsing HTML. Perfect for simple, static data extraction tasks.</a:t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4730799" y="3173015"/>
            <a:ext cx="286707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Scrapy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4730799" y="3782615"/>
            <a:ext cx="2730549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 robust framework for large-scale spiders. Handles request scheduling and data pipelines.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8509099" y="3173015"/>
            <a:ext cx="286707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Selenium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8509099" y="3782615"/>
            <a:ext cx="2730549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Automates browsers. Essential for scraping dynamic websites that rely on JavaScript.</a:t>
            </a:r>
            <a:endParaRPr/>
          </a:p>
        </p:txBody>
      </p:sp>
      <p:pic>
        <p:nvPicPr>
          <p:cNvPr descr="image.png" id="172" name="Google Shape;172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2500" y="248721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30799" y="248721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09099" y="2487215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Popular Tools Overview</a:t>
            </a:r>
            <a:endParaRPr/>
          </a:p>
        </p:txBody>
      </p:sp>
      <p:sp>
        <p:nvSpPr>
          <p:cNvPr id="176" name="Google Shape;176;p19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1" name="Google Shape;18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5875" y="2000250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0"/>
          <p:cNvSpPr txBox="1"/>
          <p:nvPr/>
        </p:nvSpPr>
        <p:spPr>
          <a:xfrm>
            <a:off x="6381750" y="2194917"/>
            <a:ext cx="550068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The Beginner's Choice</a:t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6381750" y="2680692"/>
            <a:ext cx="523875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BeautifulSoup is widely regarded as the most accessible tool for data extraction. It excels at turning raw HTML code into a navigable Python object tree.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6810375" y="3895725"/>
            <a:ext cx="48101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Simple syntax and great documentation.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6810375" y="4469010"/>
            <a:ext cx="48101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Integrates seamlessly with Python's 'requests'.</a:t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6810375" y="5042296"/>
            <a:ext cx="48101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Reliable for static web content.</a:t>
            </a:r>
            <a:endParaRPr/>
          </a:p>
        </p:txBody>
      </p:sp>
      <p:pic>
        <p:nvPicPr>
          <p:cNvPr descr="image.png" id="188" name="Google Shape;18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396240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4535685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5108971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0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Spotlight: BeautifulSoup</a:t>
            </a:r>
            <a:endParaRPr/>
          </a:p>
        </p:txBody>
      </p:sp>
      <p:sp>
        <p:nvSpPr>
          <p:cNvPr id="192" name="Google Shape;192;p20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7" name="Google Shape;19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39553"/>
            <a:ext cx="5334000" cy="35313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139553"/>
            <a:ext cx="5334000" cy="35313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500" y="2520553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1"/>
          <p:cNvSpPr txBox="1"/>
          <p:nvPr/>
        </p:nvSpPr>
        <p:spPr>
          <a:xfrm>
            <a:off x="952500" y="3092053"/>
            <a:ext cx="48006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Scrapy Framework</a:t>
            </a:r>
            <a:endParaRPr/>
          </a:p>
        </p:txBody>
      </p:sp>
      <p:sp>
        <p:nvSpPr>
          <p:cNvPr id="202" name="Google Shape;202;p21"/>
          <p:cNvSpPr txBox="1"/>
          <p:nvPr/>
        </p:nvSpPr>
        <p:spPr>
          <a:xfrm>
            <a:off x="952500" y="3701653"/>
            <a:ext cx="4572000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Designed for industrial-scale extraction. It features built-in support for selecting and extracting data via CSS selectors and XPath, as well as handling asynchronous requests.</a:t>
            </a:r>
            <a:endParaRPr/>
          </a:p>
        </p:txBody>
      </p:sp>
      <p:pic>
        <p:nvPicPr>
          <p:cNvPr descr="image.png" id="203" name="Google Shape;203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67500" y="2520553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 txBox="1"/>
          <p:nvPr/>
        </p:nvSpPr>
        <p:spPr>
          <a:xfrm>
            <a:off x="6667500" y="3092053"/>
            <a:ext cx="48006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Selenium &amp; Dynamic Content</a:t>
            </a:r>
            <a:endParaRPr/>
          </a:p>
        </p:txBody>
      </p:sp>
      <p:sp>
        <p:nvSpPr>
          <p:cNvPr id="205" name="Google Shape;205;p21"/>
          <p:cNvSpPr txBox="1"/>
          <p:nvPr/>
        </p:nvSpPr>
        <p:spPr>
          <a:xfrm>
            <a:off x="6667500" y="3701653"/>
            <a:ext cx="4572000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Unlike standard parsers, Selenium mimics real user interactions. It waits for JavaScript to render, clicks buttons, and scrolls, ensuring no data is hidden by modern UI elements.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Enterprise-Level Extraction</a:t>
            </a:r>
            <a:endParaRPr/>
          </a:p>
        </p:txBody>
      </p:sp>
      <p:sp>
        <p:nvSpPr>
          <p:cNvPr id="207" name="Google Shape;207;p21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2" name="Google Shape;21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2"/>
          <p:cNvSpPr txBox="1"/>
          <p:nvPr/>
        </p:nvSpPr>
        <p:spPr>
          <a:xfrm>
            <a:off x="1381125" y="2776835"/>
            <a:ext cx="102393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HTML Parsing: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Reading the raw source code string. It is fast but cannot handle content generated dynamically by JavaScript after the page loads.</a:t>
            </a:r>
            <a:endParaRPr/>
          </a:p>
        </p:txBody>
      </p:sp>
      <p:sp>
        <p:nvSpPr>
          <p:cNvPr id="214" name="Google Shape;214;p22"/>
          <p:cNvSpPr txBox="1"/>
          <p:nvPr/>
        </p:nvSpPr>
        <p:spPr>
          <a:xfrm>
            <a:off x="1381125" y="3685282"/>
            <a:ext cx="102393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DOM Parsing: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Interacting with the "Document Object Model," the live tree structure of the page. This is necessary for modern single-page applications (SPAs).</a:t>
            </a:r>
            <a:endParaRPr/>
          </a:p>
        </p:txBody>
      </p:sp>
      <p:sp>
        <p:nvSpPr>
          <p:cNvPr id="215" name="Google Shape;215;p22"/>
          <p:cNvSpPr txBox="1"/>
          <p:nvPr/>
        </p:nvSpPr>
        <p:spPr>
          <a:xfrm>
            <a:off x="1381125" y="4593728"/>
            <a:ext cx="10239375" cy="3542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Selectors: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Both techniques utilize CSS Selectors or XPath to pinpoint specific elements like .</a:t>
            </a:r>
            <a:endParaRPr/>
          </a:p>
        </p:txBody>
      </p:sp>
      <p:pic>
        <p:nvPicPr>
          <p:cNvPr descr="image.png" id="216" name="Google Shape;21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2843510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500" y="3751957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4660403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2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Parsing: HTML vs. DOM</a:t>
            </a:r>
            <a:endParaRPr/>
          </a:p>
        </p:txBody>
      </p:sp>
      <p:sp>
        <p:nvSpPr>
          <p:cNvPr id="220" name="Google Shape;220;p22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5" name="Google Shape;22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3"/>
          <p:cNvSpPr txBox="1"/>
          <p:nvPr/>
        </p:nvSpPr>
        <p:spPr>
          <a:xfrm>
            <a:off x="295275" y="571500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/>
          </a:p>
        </p:txBody>
      </p:sp>
      <p:sp>
        <p:nvSpPr>
          <p:cNvPr id="227" name="Google Shape;227;p23"/>
          <p:cNvSpPr txBox="1"/>
          <p:nvPr/>
        </p:nvSpPr>
        <p:spPr>
          <a:xfrm>
            <a:off x="295275" y="1714500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Security &amp; Risks</a:t>
            </a:r>
            <a:endParaRPr/>
          </a:p>
        </p:txBody>
      </p:sp>
      <p:sp>
        <p:nvSpPr>
          <p:cNvPr id="228" name="Google Shape;228;p23"/>
          <p:cNvSpPr txBox="1"/>
          <p:nvPr/>
        </p:nvSpPr>
        <p:spPr>
          <a:xfrm>
            <a:off x="571500" y="3067050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Cyber Threats and Malicious Use of Bot Technology</a:t>
            </a:r>
            <a:endParaRPr/>
          </a:p>
        </p:txBody>
      </p:sp>
      <p:sp>
        <p:nvSpPr>
          <p:cNvPr id="229" name="Google Shape;229;p23"/>
          <p:cNvSpPr/>
          <p:nvPr/>
        </p:nvSpPr>
        <p:spPr>
          <a:xfrm>
            <a:off x="5524500" y="3687960"/>
            <a:ext cx="1143000" cy="571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4" name="Google Shape;23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58590"/>
            <a:ext cx="3492549" cy="36933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058590"/>
            <a:ext cx="3492549" cy="36933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058590"/>
            <a:ext cx="3492549" cy="3693318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4"/>
          <p:cNvSpPr txBox="1"/>
          <p:nvPr/>
        </p:nvSpPr>
        <p:spPr>
          <a:xfrm>
            <a:off x="952500" y="3173015"/>
            <a:ext cx="286707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Identity Theft</a:t>
            </a:r>
            <a:endParaRPr/>
          </a:p>
        </p:txBody>
      </p:sp>
      <p:sp>
        <p:nvSpPr>
          <p:cNvPr id="239" name="Google Shape;239;p24"/>
          <p:cNvSpPr txBox="1"/>
          <p:nvPr/>
        </p:nvSpPr>
        <p:spPr>
          <a:xfrm>
            <a:off x="952500" y="3782615"/>
            <a:ext cx="2730549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Bots scrape public profiles (LinkedIn, Facebook) to build detailed dossiers for social engineering.</a:t>
            </a:r>
            <a:endParaRPr/>
          </a:p>
        </p:txBody>
      </p:sp>
      <p:sp>
        <p:nvSpPr>
          <p:cNvPr id="240" name="Google Shape;240;p24"/>
          <p:cNvSpPr txBox="1"/>
          <p:nvPr/>
        </p:nvSpPr>
        <p:spPr>
          <a:xfrm>
            <a:off x="4730799" y="3173015"/>
            <a:ext cx="286707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Phishing</a:t>
            </a:r>
            <a:endParaRPr/>
          </a:p>
        </p:txBody>
      </p:sp>
      <p:sp>
        <p:nvSpPr>
          <p:cNvPr id="241" name="Google Shape;241;p24"/>
          <p:cNvSpPr txBox="1"/>
          <p:nvPr/>
        </p:nvSpPr>
        <p:spPr>
          <a:xfrm>
            <a:off x="4730799" y="3782615"/>
            <a:ext cx="2730549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Harvested contact details fuel hyper-targeted spear-phishing campaigns with higher success rates.</a:t>
            </a:r>
            <a:endParaRPr/>
          </a:p>
        </p:txBody>
      </p:sp>
      <p:sp>
        <p:nvSpPr>
          <p:cNvPr id="242" name="Google Shape;242;p24"/>
          <p:cNvSpPr txBox="1"/>
          <p:nvPr/>
        </p:nvSpPr>
        <p:spPr>
          <a:xfrm>
            <a:off x="8509099" y="3173015"/>
            <a:ext cx="286707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Password Cracking</a:t>
            </a:r>
            <a:endParaRPr/>
          </a:p>
        </p:txBody>
      </p:sp>
      <p:sp>
        <p:nvSpPr>
          <p:cNvPr id="243" name="Google Shape;243;p24"/>
          <p:cNvSpPr txBox="1"/>
          <p:nvPr/>
        </p:nvSpPr>
        <p:spPr>
          <a:xfrm>
            <a:off x="8509099" y="3782615"/>
            <a:ext cx="2730549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Automated scripts test breached credentials against multiple platforms (Credential Stuffing).</a:t>
            </a:r>
            <a:endParaRPr/>
          </a:p>
        </p:txBody>
      </p:sp>
      <p:pic>
        <p:nvPicPr>
          <p:cNvPr descr="image.png" id="244" name="Google Shape;244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2500" y="2487215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30799" y="2487215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6" name="Google Shape;246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09099" y="2487215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4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Associated Cyber Threats</a:t>
            </a:r>
            <a:endParaRPr/>
          </a:p>
        </p:txBody>
      </p:sp>
      <p:sp>
        <p:nvSpPr>
          <p:cNvPr id="248" name="Google Shape;248;p24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3" name="Google Shape;25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5"/>
          <p:cNvSpPr txBox="1"/>
          <p:nvPr/>
        </p:nvSpPr>
        <p:spPr>
          <a:xfrm>
            <a:off x="571500" y="2861369"/>
            <a:ext cx="523875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0" u="none" cap="none" strike="noStrike">
                <a:solidFill>
                  <a:srgbClr val="2563EB"/>
                </a:solidFill>
                <a:latin typeface="Lato"/>
                <a:ea typeface="Lato"/>
                <a:cs typeface="Lato"/>
                <a:sym typeface="Lato"/>
              </a:rPr>
              <a:t>47%</a:t>
            </a:r>
            <a:endParaRPr/>
          </a:p>
        </p:txBody>
      </p:sp>
      <p:sp>
        <p:nvSpPr>
          <p:cNvPr id="255" name="Google Shape;255;p25"/>
          <p:cNvSpPr txBox="1"/>
          <p:nvPr/>
        </p:nvSpPr>
        <p:spPr>
          <a:xfrm>
            <a:off x="571500" y="4404419"/>
            <a:ext cx="5238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Of all internet traffic is automated bots.</a:t>
            </a:r>
            <a:endParaRPr/>
          </a:p>
        </p:txBody>
      </p:sp>
      <p:sp>
        <p:nvSpPr>
          <p:cNvPr id="256" name="Google Shape;256;p25"/>
          <p:cNvSpPr txBox="1"/>
          <p:nvPr/>
        </p:nvSpPr>
        <p:spPr>
          <a:xfrm>
            <a:off x="6381750" y="2887265"/>
            <a:ext cx="550068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A Growing Menace</a:t>
            </a:r>
            <a:endParaRPr/>
          </a:p>
        </p:txBody>
      </p:sp>
      <p:sp>
        <p:nvSpPr>
          <p:cNvPr id="257" name="Google Shape;257;p25"/>
          <p:cNvSpPr txBox="1"/>
          <p:nvPr/>
        </p:nvSpPr>
        <p:spPr>
          <a:xfrm>
            <a:off x="6381750" y="3373040"/>
            <a:ext cx="5238750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Malicious scraping is not just about data theft; it leads to server strain, competitive price undercutting, and degraded user experience. Over half of all bot traffic is classified as "bad bots" intent on malicious activity.</a:t>
            </a:r>
            <a:endParaRPr/>
          </a:p>
        </p:txBody>
      </p:sp>
      <p:sp>
        <p:nvSpPr>
          <p:cNvPr id="258" name="Google Shape;258;p25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The Bot Threat Landscape</a:t>
            </a:r>
            <a:endParaRPr/>
          </a:p>
        </p:txBody>
      </p:sp>
      <p:sp>
        <p:nvSpPr>
          <p:cNvPr id="259" name="Google Shape;259;p25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4" name="Google Shape;26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6"/>
          <p:cNvSpPr txBox="1"/>
          <p:nvPr/>
        </p:nvSpPr>
        <p:spPr>
          <a:xfrm>
            <a:off x="762000" y="822424"/>
            <a:ext cx="50006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Google Dorking</a:t>
            </a:r>
            <a:endParaRPr/>
          </a:p>
        </p:txBody>
      </p:sp>
      <p:sp>
        <p:nvSpPr>
          <p:cNvPr id="266" name="Google Shape;266;p26"/>
          <p:cNvSpPr/>
          <p:nvPr/>
        </p:nvSpPr>
        <p:spPr>
          <a:xfrm>
            <a:off x="571500" y="822424"/>
            <a:ext cx="76200" cy="571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6"/>
          <p:cNvSpPr txBox="1"/>
          <p:nvPr/>
        </p:nvSpPr>
        <p:spPr>
          <a:xfrm>
            <a:off x="571500" y="1984474"/>
            <a:ext cx="4953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Advanced Search Operators</a:t>
            </a:r>
            <a:endParaRPr/>
          </a:p>
        </p:txBody>
      </p:sp>
      <p:sp>
        <p:nvSpPr>
          <p:cNvPr id="268" name="Google Shape;268;p26"/>
          <p:cNvSpPr txBox="1"/>
          <p:nvPr/>
        </p:nvSpPr>
        <p:spPr>
          <a:xfrm>
            <a:off x="571500" y="2738735"/>
            <a:ext cx="49530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 specialized technique using Google's own search parameters to find sensitive information that was never meant to be indexed.</a:t>
            </a:r>
            <a:endParaRPr/>
          </a:p>
        </p:txBody>
      </p:sp>
      <p:sp>
        <p:nvSpPr>
          <p:cNvPr id="269" name="Google Shape;269;p26"/>
          <p:cNvSpPr txBox="1"/>
          <p:nvPr/>
        </p:nvSpPr>
        <p:spPr>
          <a:xfrm>
            <a:off x="1000125" y="4106167"/>
            <a:ext cx="4524375" cy="3542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filetype:env (Finds secret keys)</a:t>
            </a:r>
            <a:endParaRPr/>
          </a:p>
        </p:txBody>
      </p:sp>
      <p:sp>
        <p:nvSpPr>
          <p:cNvPr id="270" name="Google Shape;270;p26"/>
          <p:cNvSpPr txBox="1"/>
          <p:nvPr/>
        </p:nvSpPr>
        <p:spPr>
          <a:xfrm>
            <a:off x="1000125" y="4698503"/>
            <a:ext cx="4524375" cy="3542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intitle:"index of" (Directory listing)</a:t>
            </a:r>
            <a:endParaRPr/>
          </a:p>
        </p:txBody>
      </p:sp>
      <p:sp>
        <p:nvSpPr>
          <p:cNvPr id="271" name="Google Shape;271;p26"/>
          <p:cNvSpPr txBox="1"/>
          <p:nvPr/>
        </p:nvSpPr>
        <p:spPr>
          <a:xfrm>
            <a:off x="1000125" y="5290839"/>
            <a:ext cx="4524375" cy="3542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site:example.com (Targeted mapping)</a:t>
            </a:r>
            <a:endParaRPr/>
          </a:p>
        </p:txBody>
      </p:sp>
      <p:pic>
        <p:nvPicPr>
          <p:cNvPr descr="image.png" id="272" name="Google Shape;272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17284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3" name="Google Shape;273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765178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4" name="Google Shape;274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5357514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5" name="Google Shape;275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0" name="Google Shape;28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7"/>
          <p:cNvSpPr txBox="1"/>
          <p:nvPr/>
        </p:nvSpPr>
        <p:spPr>
          <a:xfrm>
            <a:off x="295275" y="571500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04</a:t>
            </a:r>
            <a:endParaRPr/>
          </a:p>
        </p:txBody>
      </p:sp>
      <p:sp>
        <p:nvSpPr>
          <p:cNvPr id="282" name="Google Shape;282;p27"/>
          <p:cNvSpPr txBox="1"/>
          <p:nvPr/>
        </p:nvSpPr>
        <p:spPr>
          <a:xfrm>
            <a:off x="295275" y="1714500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The Privacy Conflict</a:t>
            </a:r>
            <a:endParaRPr/>
          </a:p>
        </p:txBody>
      </p:sp>
      <p:sp>
        <p:nvSpPr>
          <p:cNvPr id="283" name="Google Shape;283;p27"/>
          <p:cNvSpPr txBox="1"/>
          <p:nvPr/>
        </p:nvSpPr>
        <p:spPr>
          <a:xfrm>
            <a:off x="571500" y="3067050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Mass Extraction vs. Fair Information Practice Principles (FIPPs)</a:t>
            </a:r>
            <a:endParaRPr/>
          </a:p>
        </p:txBody>
      </p:sp>
      <p:sp>
        <p:nvSpPr>
          <p:cNvPr id="284" name="Google Shape;284;p27"/>
          <p:cNvSpPr/>
          <p:nvPr/>
        </p:nvSpPr>
        <p:spPr>
          <a:xfrm>
            <a:off x="5524500" y="3687960"/>
            <a:ext cx="1143000" cy="571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9" name="Google Shape;28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0" name="Google Shape;290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25303"/>
            <a:ext cx="5238750" cy="29598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1" name="Google Shape;291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425303"/>
            <a:ext cx="5238750" cy="2959893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8"/>
          <p:cNvSpPr txBox="1"/>
          <p:nvPr/>
        </p:nvSpPr>
        <p:spPr>
          <a:xfrm>
            <a:off x="952500" y="2806303"/>
            <a:ext cx="470058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Transparency &amp; Consent</a:t>
            </a:r>
            <a:endParaRPr/>
          </a:p>
        </p:txBody>
      </p:sp>
      <p:sp>
        <p:nvSpPr>
          <p:cNvPr id="293" name="Google Shape;293;p28"/>
          <p:cNvSpPr txBox="1"/>
          <p:nvPr/>
        </p:nvSpPr>
        <p:spPr>
          <a:xfrm>
            <a:off x="952500" y="3415903"/>
            <a:ext cx="4476750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Scraping fundamentally bypasses the user's right to know who is collecting their data and for what purpose. There is zero mechanism for active consent during mass extraction.</a:t>
            </a:r>
            <a:endParaRPr/>
          </a:p>
        </p:txBody>
      </p:sp>
      <p:sp>
        <p:nvSpPr>
          <p:cNvPr id="294" name="Google Shape;294;p28"/>
          <p:cNvSpPr txBox="1"/>
          <p:nvPr/>
        </p:nvSpPr>
        <p:spPr>
          <a:xfrm>
            <a:off x="6762750" y="2806303"/>
            <a:ext cx="470058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Data Minimization</a:t>
            </a:r>
            <a:endParaRPr/>
          </a:p>
        </p:txBody>
      </p:sp>
      <p:sp>
        <p:nvSpPr>
          <p:cNvPr id="295" name="Google Shape;295;p28"/>
          <p:cNvSpPr txBox="1"/>
          <p:nvPr/>
        </p:nvSpPr>
        <p:spPr>
          <a:xfrm>
            <a:off x="6762750" y="3415903"/>
            <a:ext cx="4476750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FIPPs mandate only collecting what is necessary. Scrapers, by nature, often "hoover" every available field, resulting in massive, unnecessary data collection.</a:t>
            </a:r>
            <a:endParaRPr/>
          </a:p>
        </p:txBody>
      </p:sp>
      <p:sp>
        <p:nvSpPr>
          <p:cNvPr id="296" name="Google Shape;296;p28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The Tension with FIPPs</a:t>
            </a:r>
            <a:endParaRPr/>
          </a:p>
        </p:txBody>
      </p:sp>
      <p:sp>
        <p:nvSpPr>
          <p:cNvPr id="297" name="Google Shape;297;p28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2" name="Google Shape;30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9"/>
          <p:cNvSpPr txBox="1"/>
          <p:nvPr/>
        </p:nvSpPr>
        <p:spPr>
          <a:xfrm>
            <a:off x="1905000" y="1947862"/>
            <a:ext cx="8382000" cy="24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31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 "Just because information is public does not mean it is public domain for any and all secondary uses without accountability." </a:t>
            </a:r>
            <a:endParaRPr/>
          </a:p>
        </p:txBody>
      </p:sp>
      <p:sp>
        <p:nvSpPr>
          <p:cNvPr id="304" name="Google Shape;304;p29"/>
          <p:cNvSpPr txBox="1"/>
          <p:nvPr/>
        </p:nvSpPr>
        <p:spPr>
          <a:xfrm>
            <a:off x="1524000" y="5033962"/>
            <a:ext cx="91440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 u="none" cap="none" strike="noStrike">
                <a:solidFill>
                  <a:srgbClr val="2563EB"/>
                </a:solidFill>
                <a:latin typeface="Lato"/>
                <a:ea typeface="Lato"/>
                <a:cs typeface="Lato"/>
                <a:sym typeface="Lato"/>
              </a:rPr>
              <a:t>— Digital Ethics Framework</a:t>
            </a:r>
            <a:endParaRPr/>
          </a:p>
        </p:txBody>
      </p:sp>
      <p:sp>
        <p:nvSpPr>
          <p:cNvPr id="305" name="Google Shape;305;p29"/>
          <p:cNvSpPr txBox="1"/>
          <p:nvPr/>
        </p:nvSpPr>
        <p:spPr>
          <a:xfrm>
            <a:off x="1333500" y="1566862"/>
            <a:ext cx="333375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306" name="Google Shape;306;p29"/>
          <p:cNvSpPr txBox="1"/>
          <p:nvPr/>
        </p:nvSpPr>
        <p:spPr>
          <a:xfrm>
            <a:off x="1524000" y="571500"/>
            <a:ext cx="914400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 u="none" cap="none" strike="noStrike">
                <a:solidFill>
                  <a:srgbClr val="2563EB"/>
                </a:solidFill>
                <a:latin typeface="Lato"/>
                <a:ea typeface="Lato"/>
                <a:cs typeface="Lato"/>
                <a:sym typeface="Lato"/>
              </a:rPr>
              <a:t>— Digital Ethics Framework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1" name="Google Shape;31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30"/>
          <p:cNvSpPr txBox="1"/>
          <p:nvPr/>
        </p:nvSpPr>
        <p:spPr>
          <a:xfrm>
            <a:off x="295275" y="571500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05</a:t>
            </a:r>
            <a:endParaRPr/>
          </a:p>
        </p:txBody>
      </p:sp>
      <p:sp>
        <p:nvSpPr>
          <p:cNvPr id="313" name="Google Shape;313;p30"/>
          <p:cNvSpPr txBox="1"/>
          <p:nvPr/>
        </p:nvSpPr>
        <p:spPr>
          <a:xfrm>
            <a:off x="295275" y="1714500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Mitigation &amp; Regulation</a:t>
            </a:r>
            <a:endParaRPr/>
          </a:p>
        </p:txBody>
      </p:sp>
      <p:sp>
        <p:nvSpPr>
          <p:cNvPr id="314" name="Google Shape;314;p30"/>
          <p:cNvSpPr txBox="1"/>
          <p:nvPr/>
        </p:nvSpPr>
        <p:spPr>
          <a:xfrm>
            <a:off x="571500" y="3067050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Defense Strategies and the Shifting Regulatory Horizon</a:t>
            </a:r>
            <a:endParaRPr/>
          </a:p>
        </p:txBody>
      </p:sp>
      <p:sp>
        <p:nvSpPr>
          <p:cNvPr id="315" name="Google Shape;315;p30"/>
          <p:cNvSpPr/>
          <p:nvPr/>
        </p:nvSpPr>
        <p:spPr>
          <a:xfrm>
            <a:off x="5524500" y="3687960"/>
            <a:ext cx="1143000" cy="571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0" name="Google Shape;32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21" name="Google Shape;321;p31"/>
          <p:cNvGraphicFramePr/>
          <p:nvPr/>
        </p:nvGraphicFramePr>
        <p:xfrm>
          <a:off x="571500" y="245268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{5E49733D-1791-4AD5-9380-1F62B7088D4F}</a:tableStyleId>
              </a:tblPr>
              <a:tblGrid>
                <a:gridCol w="2675175"/>
                <a:gridCol w="5110600"/>
                <a:gridCol w="3263200"/>
              </a:tblGrid>
              <a:tr h="61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Technique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Function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Effectiveness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Rate Limiting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Limit requests per IP address per minute.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High (Slows down bots)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CAPTCHA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Forcing human verification (reCAPTCHA v3).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Medium (Can be bypassed)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DFD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Honeypots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Invisible links that block bots when clicked.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High (Accurate detection)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User-Agent Blocking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Identify and block known scraper signatures.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Low (Easily spoofed)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DFD"/>
                    </a:solidFill>
                  </a:tcPr>
                </a:tc>
              </a:tr>
            </a:tbl>
          </a:graphicData>
        </a:graphic>
      </p:graphicFrame>
      <p:sp>
        <p:nvSpPr>
          <p:cNvPr id="322" name="Google Shape;322;p31"/>
          <p:cNvSpPr/>
          <p:nvPr/>
        </p:nvSpPr>
        <p:spPr>
          <a:xfrm>
            <a:off x="571500" y="3676650"/>
            <a:ext cx="26751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31"/>
          <p:cNvSpPr/>
          <p:nvPr/>
        </p:nvSpPr>
        <p:spPr>
          <a:xfrm>
            <a:off x="3246685" y="3676650"/>
            <a:ext cx="511060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31"/>
          <p:cNvSpPr/>
          <p:nvPr/>
        </p:nvSpPr>
        <p:spPr>
          <a:xfrm>
            <a:off x="8357294" y="3676650"/>
            <a:ext cx="326320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31"/>
          <p:cNvSpPr/>
          <p:nvPr/>
        </p:nvSpPr>
        <p:spPr>
          <a:xfrm>
            <a:off x="571500" y="4295775"/>
            <a:ext cx="26751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31"/>
          <p:cNvSpPr/>
          <p:nvPr/>
        </p:nvSpPr>
        <p:spPr>
          <a:xfrm>
            <a:off x="3246685" y="4295775"/>
            <a:ext cx="511060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31"/>
          <p:cNvSpPr/>
          <p:nvPr/>
        </p:nvSpPr>
        <p:spPr>
          <a:xfrm>
            <a:off x="8357294" y="4295775"/>
            <a:ext cx="326320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31"/>
          <p:cNvSpPr/>
          <p:nvPr/>
        </p:nvSpPr>
        <p:spPr>
          <a:xfrm>
            <a:off x="571500" y="4914900"/>
            <a:ext cx="26751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31"/>
          <p:cNvSpPr/>
          <p:nvPr/>
        </p:nvSpPr>
        <p:spPr>
          <a:xfrm>
            <a:off x="3246685" y="4914900"/>
            <a:ext cx="511060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31"/>
          <p:cNvSpPr/>
          <p:nvPr/>
        </p:nvSpPr>
        <p:spPr>
          <a:xfrm>
            <a:off x="8357294" y="4914900"/>
            <a:ext cx="326320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31"/>
          <p:cNvSpPr/>
          <p:nvPr/>
        </p:nvSpPr>
        <p:spPr>
          <a:xfrm>
            <a:off x="571500" y="5534025"/>
            <a:ext cx="26751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31"/>
          <p:cNvSpPr/>
          <p:nvPr/>
        </p:nvSpPr>
        <p:spPr>
          <a:xfrm>
            <a:off x="3246685" y="5534025"/>
            <a:ext cx="511060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31"/>
          <p:cNvSpPr/>
          <p:nvPr/>
        </p:nvSpPr>
        <p:spPr>
          <a:xfrm>
            <a:off x="8357294" y="5534025"/>
            <a:ext cx="326320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31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Website Protection Strategies</a:t>
            </a:r>
            <a:endParaRPr/>
          </a:p>
        </p:txBody>
      </p:sp>
      <p:sp>
        <p:nvSpPr>
          <p:cNvPr id="335" name="Google Shape;335;p31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0" name="Google Shape;34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1" name="Google Shape;341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96125" y="2000250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32"/>
          <p:cNvSpPr txBox="1"/>
          <p:nvPr/>
        </p:nvSpPr>
        <p:spPr>
          <a:xfrm>
            <a:off x="571500" y="2362497"/>
            <a:ext cx="550068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A Privilege, Not a Right</a:t>
            </a:r>
            <a:endParaRPr/>
          </a:p>
        </p:txBody>
      </p:sp>
      <p:sp>
        <p:nvSpPr>
          <p:cNvPr id="343" name="Google Shape;343;p32"/>
          <p:cNvSpPr txBox="1"/>
          <p:nvPr/>
        </p:nvSpPr>
        <p:spPr>
          <a:xfrm>
            <a:off x="571500" y="2848272"/>
            <a:ext cx="5238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Proposed regulatory frameworks suggest viewing web scraping as a privilege conditioned on the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public interest</a:t>
            </a: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344" name="Google Shape;344;p32"/>
          <p:cNvSpPr txBox="1"/>
          <p:nvPr/>
        </p:nvSpPr>
        <p:spPr>
          <a:xfrm>
            <a:off x="1000125" y="3728144"/>
            <a:ext cx="48101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Transparency in bot identification.</a:t>
            </a:r>
            <a:endParaRPr/>
          </a:p>
        </p:txBody>
      </p:sp>
      <p:sp>
        <p:nvSpPr>
          <p:cNvPr id="345" name="Google Shape;345;p32"/>
          <p:cNvSpPr txBox="1"/>
          <p:nvPr/>
        </p:nvSpPr>
        <p:spPr>
          <a:xfrm>
            <a:off x="1000125" y="4301430"/>
            <a:ext cx="48101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Mandatory respect for robots.txt files.</a:t>
            </a:r>
            <a:endParaRPr/>
          </a:p>
        </p:txBody>
      </p:sp>
      <p:sp>
        <p:nvSpPr>
          <p:cNvPr id="346" name="Google Shape;346;p32"/>
          <p:cNvSpPr txBox="1"/>
          <p:nvPr/>
        </p:nvSpPr>
        <p:spPr>
          <a:xfrm>
            <a:off x="1000125" y="4874716"/>
            <a:ext cx="48101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Stronger penalties for malicious data use.</a:t>
            </a:r>
            <a:endParaRPr/>
          </a:p>
        </p:txBody>
      </p:sp>
      <p:pic>
        <p:nvPicPr>
          <p:cNvPr descr="image.png" id="347" name="Google Shape;347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794819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8" name="Google Shape;348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368105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9" name="Google Shape;349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941391"/>
            <a:ext cx="2857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32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The Future: A Regulatory Agenda</a:t>
            </a:r>
            <a:endParaRPr/>
          </a:p>
        </p:txBody>
      </p:sp>
      <p:sp>
        <p:nvSpPr>
          <p:cNvPr id="351" name="Google Shape;351;p32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6" name="Google Shape;356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33"/>
          <p:cNvSpPr/>
          <p:nvPr/>
        </p:nvSpPr>
        <p:spPr>
          <a:xfrm>
            <a:off x="571500" y="1749921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33"/>
          <p:cNvSpPr/>
          <p:nvPr/>
        </p:nvSpPr>
        <p:spPr>
          <a:xfrm>
            <a:off x="571500" y="2534691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33"/>
          <p:cNvSpPr/>
          <p:nvPr/>
        </p:nvSpPr>
        <p:spPr>
          <a:xfrm>
            <a:off x="571500" y="3517552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33"/>
          <p:cNvSpPr/>
          <p:nvPr/>
        </p:nvSpPr>
        <p:spPr>
          <a:xfrm>
            <a:off x="571500" y="4302323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33"/>
          <p:cNvSpPr/>
          <p:nvPr/>
        </p:nvSpPr>
        <p:spPr>
          <a:xfrm>
            <a:off x="571500" y="252516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33"/>
          <p:cNvSpPr/>
          <p:nvPr/>
        </p:nvSpPr>
        <p:spPr>
          <a:xfrm>
            <a:off x="571500" y="252516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33"/>
          <p:cNvSpPr/>
          <p:nvPr/>
        </p:nvSpPr>
        <p:spPr>
          <a:xfrm>
            <a:off x="571500" y="350802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33"/>
          <p:cNvSpPr/>
          <p:nvPr/>
        </p:nvSpPr>
        <p:spPr>
          <a:xfrm>
            <a:off x="571500" y="350802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33"/>
          <p:cNvSpPr/>
          <p:nvPr/>
        </p:nvSpPr>
        <p:spPr>
          <a:xfrm>
            <a:off x="571500" y="429279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33"/>
          <p:cNvSpPr/>
          <p:nvPr/>
        </p:nvSpPr>
        <p:spPr>
          <a:xfrm>
            <a:off x="571500" y="429279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33"/>
          <p:cNvSpPr/>
          <p:nvPr/>
        </p:nvSpPr>
        <p:spPr>
          <a:xfrm>
            <a:off x="571500" y="507756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33"/>
          <p:cNvSpPr/>
          <p:nvPr/>
        </p:nvSpPr>
        <p:spPr>
          <a:xfrm>
            <a:off x="571500" y="507756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69" name="Google Shape;369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899344"/>
            <a:ext cx="1752600" cy="670321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33"/>
          <p:cNvSpPr txBox="1"/>
          <p:nvPr/>
        </p:nvSpPr>
        <p:spPr>
          <a:xfrm>
            <a:off x="1666875" y="1892796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https://static.vecteezy.com/system/resources/previews/004/355/498/non_2x/digital-network-connection-internet-technology-abstract-background-vector.jpg</a:t>
            </a:r>
            <a:endParaRPr/>
          </a:p>
        </p:txBody>
      </p:sp>
      <p:sp>
        <p:nvSpPr>
          <p:cNvPr id="371" name="Google Shape;371;p33"/>
          <p:cNvSpPr txBox="1"/>
          <p:nvPr/>
        </p:nvSpPr>
        <p:spPr>
          <a:xfrm>
            <a:off x="1666875" y="2138511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www.vecteezy.com</a:t>
            </a:r>
            <a:endParaRPr/>
          </a:p>
        </p:txBody>
      </p:sp>
      <p:pic>
        <p:nvPicPr>
          <p:cNvPr descr="image.png" id="372" name="Google Shape;372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783234"/>
            <a:ext cx="2038350" cy="670321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33"/>
          <p:cNvSpPr txBox="1"/>
          <p:nvPr/>
        </p:nvSpPr>
        <p:spPr>
          <a:xfrm>
            <a:off x="1666875" y="2677566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https://media.istockphoto.com/id/1465316262/photo/businessman-inspecting-paperwork-document-of-business-data-analysis-working-management-report.jpg?s=612x612&amp;w=0&amp;k=20&amp;c=kpD3aZWVIH0VfOwdG4RX5vPRFPMftg5Dp4xCVo3Lito=</a:t>
            </a:r>
            <a:endParaRPr/>
          </a:p>
        </p:txBody>
      </p:sp>
      <p:sp>
        <p:nvSpPr>
          <p:cNvPr id="374" name="Google Shape;374;p33"/>
          <p:cNvSpPr txBox="1"/>
          <p:nvPr/>
        </p:nvSpPr>
        <p:spPr>
          <a:xfrm>
            <a:off x="1666875" y="3121372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www.istockphoto.com</a:t>
            </a:r>
            <a:endParaRPr/>
          </a:p>
        </p:txBody>
      </p:sp>
      <p:pic>
        <p:nvPicPr>
          <p:cNvPr descr="image.png" id="375" name="Google Shape;375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666976"/>
            <a:ext cx="2362200" cy="670321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33"/>
          <p:cNvSpPr txBox="1"/>
          <p:nvPr/>
        </p:nvSpPr>
        <p:spPr>
          <a:xfrm>
            <a:off x="1666875" y="3660427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https://cdn.analyticsvidhya.com/wp-content/uploads/2024/10/30-Python-Code-Snippets-for-Your-Everyday-Use.webp</a:t>
            </a:r>
            <a:endParaRPr/>
          </a:p>
        </p:txBody>
      </p:sp>
      <p:sp>
        <p:nvSpPr>
          <p:cNvPr id="377" name="Google Shape;377;p33"/>
          <p:cNvSpPr txBox="1"/>
          <p:nvPr/>
        </p:nvSpPr>
        <p:spPr>
          <a:xfrm>
            <a:off x="1666875" y="3906142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www.analyticsvidhya.com</a:t>
            </a:r>
            <a:endParaRPr/>
          </a:p>
        </p:txBody>
      </p:sp>
      <p:pic>
        <p:nvPicPr>
          <p:cNvPr descr="image.png" id="378" name="Google Shape;378;p3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451746"/>
            <a:ext cx="1266825" cy="1005482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3"/>
          <p:cNvSpPr txBox="1"/>
          <p:nvPr/>
        </p:nvSpPr>
        <p:spPr>
          <a:xfrm>
            <a:off x="1666875" y="4445198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https://www.avg.com/hs-fs/hubfs/Blog_Content/Avg/Signal/AVG%20Signal%20Images/what_is_google_dorking_signal/img-02.png?width=900&amp;name=img-02.png</a:t>
            </a:r>
            <a:endParaRPr/>
          </a:p>
        </p:txBody>
      </p:sp>
      <p:sp>
        <p:nvSpPr>
          <p:cNvPr id="380" name="Google Shape;380;p33"/>
          <p:cNvSpPr txBox="1"/>
          <p:nvPr/>
        </p:nvSpPr>
        <p:spPr>
          <a:xfrm>
            <a:off x="1666875" y="4690913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www.avg.com</a:t>
            </a:r>
            <a:endParaRPr/>
          </a:p>
        </p:txBody>
      </p:sp>
      <p:pic>
        <p:nvPicPr>
          <p:cNvPr descr="image.png" id="381" name="Google Shape;381;p3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5335637"/>
            <a:ext cx="1752600" cy="670321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3"/>
          <p:cNvSpPr txBox="1"/>
          <p:nvPr/>
        </p:nvSpPr>
        <p:spPr>
          <a:xfrm>
            <a:off x="1666875" y="5229969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https://static.vecteezy.com/system/resources/previews/057/707/674/large_2x/gavel-and-scales-of-justice-on-table-in-law-office-symbolizing-legal-authority-and-fairness-background-features-law-books-enhancing-professional-atmosphere-photo.JPG</a:t>
            </a:r>
            <a:endParaRPr/>
          </a:p>
        </p:txBody>
      </p:sp>
      <p:sp>
        <p:nvSpPr>
          <p:cNvPr id="383" name="Google Shape;383;p33"/>
          <p:cNvSpPr txBox="1"/>
          <p:nvPr/>
        </p:nvSpPr>
        <p:spPr>
          <a:xfrm>
            <a:off x="1666875" y="5673774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www.vecteezy.com</a:t>
            </a:r>
            <a:endParaRPr/>
          </a:p>
        </p:txBody>
      </p:sp>
      <p:sp>
        <p:nvSpPr>
          <p:cNvPr id="384" name="Google Shape;384;p33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  <p:sp>
        <p:nvSpPr>
          <p:cNvPr id="385" name="Google Shape;385;p33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
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90ECA2-CDC8-47E0-8E79-F62075747301}">
  <a:tblStyle styleId="{4B90ECA2-CDC8-47E0-8E79-F6207574730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9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36.png"/><Relationship Id="rId6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41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40.png"/><Relationship Id="rId8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image" Target="../media/image34.png"/><Relationship Id="rId6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Relationship Id="rId4" Type="http://schemas.openxmlformats.org/officeDocument/2006/relationships/image" Target="../media/image15.png"/><Relationship Id="rId5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44.png"/><Relationship Id="rId5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43.png"/><Relationship Id="rId5" Type="http://schemas.openxmlformats.org/officeDocument/2006/relationships/image" Target="../media/image46.png"/><Relationship Id="rId6" Type="http://schemas.openxmlformats.org/officeDocument/2006/relationships/image" Target="../media/image48.png"/><Relationship Id="rId7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Relationship Id="rId6" Type="http://schemas.openxmlformats.org/officeDocument/2006/relationships/image" Target="../media/image55.png"/><Relationship Id="rId7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49.png"/><Relationship Id="rId5" Type="http://schemas.openxmlformats.org/officeDocument/2006/relationships/image" Target="../media/image56.png"/><Relationship Id="rId6" Type="http://schemas.openxmlformats.org/officeDocument/2006/relationships/image" Target="../media/image53.png"/><Relationship Id="rId7" Type="http://schemas.openxmlformats.org/officeDocument/2006/relationships/image" Target="../media/image42.png"/><Relationship Id="rId8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3181350"/>
            <a:ext cx="1158144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Nmap Fundamentals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4126110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Network Scanning for CEH Beginners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2038350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2239565"/>
            <a:ext cx="549068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Versatile Network Discovery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283011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Nmap (Network Mapper) is the industry standard for: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2406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09650" y="3325415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Discover Hosts: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Find active machines on a network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9650" y="3898701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Scan Ports: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Identify open communication channels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9650" y="4471987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Detect Services: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See what software is running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9650" y="5045273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Identify OS: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Fingerprint target systems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39209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96537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5386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5111948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What is Nmap?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5810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86000"/>
            <a:ext cx="348615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86000"/>
            <a:ext cx="348615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86000"/>
            <a:ext cx="348615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03922" y="3486150"/>
            <a:ext cx="28403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Reconnaissance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71550" y="4076700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first critical step in ethical hacking. Information gathering is half the battle.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75822" y="3486150"/>
            <a:ext cx="28403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Find Entry Points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743450" y="4076700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Uncover vulnerable services and misconfigured ports used for real-world pentesting.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47722" y="3486150"/>
            <a:ext cx="28403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CEH Essentials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515350" y="4076700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fundamental tool covered extensively in the Certified Ethical Hacker (CEH) curriculum.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72415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7241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67862" y="272415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Why Use Nmap?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81025" y="5810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512" y="1785937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00350"/>
            <a:ext cx="522922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829050"/>
            <a:ext cx="522922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857750"/>
            <a:ext cx="522922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2512" y="1785937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6381750" y="2257425"/>
            <a:ext cx="549068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Packet Analysis Cycle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Scanning Mechanism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81025" y="5810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52687"/>
            <a:ext cx="5229225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52687"/>
            <a:ext cx="5229225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4233862"/>
            <a:ext cx="444817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4233862"/>
            <a:ext cx="4448175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971550" y="2843212"/>
            <a:ext cx="467058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Command Structure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71550" y="3433762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basic anatomy of an Nmap command is straightforward: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72275" y="2843212"/>
            <a:ext cx="467058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Execution Example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772275" y="3433762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perform a simple scan on a specific gateway IP address: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Nmap Basic Syntax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81025" y="5810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/>
          <p:nvPr/>
        </p:nvSpPr>
        <p:spPr>
          <a:xfrm>
            <a:off x="581025" y="2974776"/>
            <a:ext cx="5324475" cy="811410"/>
          </a:xfrm>
          <a:prstGeom prst="roundRect">
            <a:avLst>
              <a:gd fmla="val 1408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819150" y="3212901"/>
            <a:ext cx="48482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Single IP: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192.168.1.1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81025" y="3929062"/>
            <a:ext cx="5324475" cy="811410"/>
          </a:xfrm>
          <a:prstGeom prst="roundRect">
            <a:avLst>
              <a:gd fmla="val 1408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819150" y="4167187"/>
            <a:ext cx="48482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Range: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192.168.1.1-100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6286500" y="2974776"/>
            <a:ext cx="5324475" cy="811410"/>
          </a:xfrm>
          <a:prstGeom prst="roundRect">
            <a:avLst>
              <a:gd fmla="val 1408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524625" y="3212901"/>
            <a:ext cx="48482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Subnet: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192.168.1.0/24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6286500" y="3929062"/>
            <a:ext cx="5324475" cy="811410"/>
          </a:xfrm>
          <a:prstGeom prst="roundRect">
            <a:avLst>
              <a:gd fmla="val 1408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6524625" y="4167187"/>
            <a:ext cx="48482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Domain: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example.com</a:t>
            </a:r>
            <a:endParaRPr/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4145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957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041451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9957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Defining Targets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81025" y="5810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8635" y="3833812"/>
            <a:ext cx="198373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2866" y="3833812"/>
            <a:ext cx="198373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7096" y="3833812"/>
            <a:ext cx="198373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581025" y="3028950"/>
            <a:ext cx="422136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65k+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81025" y="4457700"/>
            <a:ext cx="42213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Possible Ports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278635" y="2347912"/>
            <a:ext cx="664895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Communication Endpoints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278635" y="2938462"/>
            <a:ext cx="633233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port is a logical connection point used by programs to exchange data. Common examples every CEH student must know: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449070" y="4043362"/>
            <a:ext cx="164286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80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488185" y="4805362"/>
            <a:ext cx="15646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7623300" y="4043362"/>
            <a:ext cx="164286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443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7662416" y="4805362"/>
            <a:ext cx="15646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797530" y="4043362"/>
            <a:ext cx="164286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836646" y="4805362"/>
            <a:ext cx="15646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SSH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Understanding Ports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81025" y="5810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81150"/>
            <a:ext cx="1102995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Nmap Port States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81025" y="5810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64283"/>
            <a:ext cx="494347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771525" y="771525"/>
            <a:ext cx="4990623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Default Scan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81025" y="7715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1009650" y="3640633"/>
            <a:ext cx="45148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Scans the top 1000 most common ports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1009650" y="4213919"/>
            <a:ext cx="45148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Simple, fast, and efficient for discovery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1009650" y="4787205"/>
            <a:ext cx="45148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Best starting point for any network audit</a:t>
            </a:r>
            <a:endParaRPr/>
          </a:p>
        </p:txBody>
      </p:sp>
      <p:pic>
        <p:nvPicPr>
          <p:cNvPr descr="image.png" id="213" name="Google Shape;21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0730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8059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85388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22"/>
          <p:cNvGraphicFramePr/>
          <p:nvPr/>
        </p:nvGraphicFramePr>
        <p:xfrm>
          <a:off x="581025" y="2200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{4B90ECA2-CDC8-47E0-8E79-F62075747301}</a:tableStyleId>
              </a:tblPr>
              <a:tblGrid>
                <a:gridCol w="1418325"/>
                <a:gridCol w="2653150"/>
                <a:gridCol w="6958450"/>
              </a:tblGrid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Flag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Scan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Mechanism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TCP Connect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Full 3-way handshake (Noisy)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SYN Scan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Half-open "Stealth" scan (Faster)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-sU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UDP Scan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Scans connectionless services (DNS, DHCP)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-sn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Ping Scan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Host discovery only (No port scan)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22"/>
          <p:cNvSpPr/>
          <p:nvPr/>
        </p:nvSpPr>
        <p:spPr>
          <a:xfrm>
            <a:off x="581025" y="3567112"/>
            <a:ext cx="14183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1999357" y="3567112"/>
            <a:ext cx="26531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4652516" y="3567112"/>
            <a:ext cx="6958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581025" y="4262437"/>
            <a:ext cx="14183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1999357" y="4262437"/>
            <a:ext cx="26531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4652516" y="4262437"/>
            <a:ext cx="6958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81025" y="4957762"/>
            <a:ext cx="14183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1999357" y="4957762"/>
            <a:ext cx="26531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4652516" y="4957762"/>
            <a:ext cx="6958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Primary Scan Types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81025" y="5810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81262"/>
            <a:ext cx="5229225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09787"/>
            <a:ext cx="5229225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3890962"/>
            <a:ext cx="4448175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971550" y="2871787"/>
            <a:ext cx="467058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Individual &amp; Group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971550" y="3462337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Single port: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971550" y="4319587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Multiple ports: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772275" y="2500312"/>
            <a:ext cx="467058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The Complete Range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772275" y="3090862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scan every single possible port (1-65535), use the dash flag: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6772275" y="4862512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Warning: This takes significantly longer!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Specific Port Selection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581025" y="5810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581025" y="2714625"/>
            <a:ext cx="549068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Identify Versions &amp; OS</a:t>
            </a:r>
            <a:endParaRPr/>
          </a:p>
        </p:txBody>
      </p:sp>
      <p:pic>
        <p:nvPicPr>
          <p:cNvPr descr="image.png" id="256" name="Google Shape;25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2406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581025" y="3657600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Detects service names and version numbers.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81025" y="4648200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Analyzes TCP/IP stack responses to guess the OS.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Deep Fingerprinting</a:t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581025" y="5810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8635" y="3937248"/>
            <a:ext cx="6332339" cy="137413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581025" y="3028801"/>
            <a:ext cx="422136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-A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581025" y="4457551"/>
            <a:ext cx="42213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All-in-One Scan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5278635" y="2546598"/>
            <a:ext cx="664895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Comprehensive Automation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5278635" y="3137148"/>
            <a:ext cx="633233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Includes OS detection, Version detection, Script scanning, and Traceroute. Be warned: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5516760" y="4127748"/>
            <a:ext cx="619889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Highly Noisy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5516760" y="4511278"/>
            <a:ext cx="590371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scan is easily detected by firewalls and Intrusion Detection Systems (IDS). Use with caution.</a:t>
            </a:r>
            <a:endParaRPr/>
          </a:p>
        </p:txBody>
      </p:sp>
      <p:pic>
        <p:nvPicPr>
          <p:cNvPr descr="image.png" id="273" name="Google Shape;27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6760" y="4146798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Aggressive Option</a:t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581025" y="5810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6525" y="2728912"/>
            <a:ext cx="89344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6525" y="3300412"/>
            <a:ext cx="89344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6525" y="3871912"/>
            <a:ext cx="89344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76525" y="2728912"/>
            <a:ext cx="7594252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6525" y="3300412"/>
            <a:ext cx="89344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76525" y="3871912"/>
            <a:ext cx="536064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6"/>
          <p:cNvSpPr txBox="1"/>
          <p:nvPr/>
        </p:nvSpPr>
        <p:spPr>
          <a:xfrm>
            <a:off x="581025" y="463391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Adjust these options to optimize scan speed and depth based on the target network stability.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581025" y="2828925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nmap -T4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581025" y="3400425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nmap -Pn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581025" y="3971925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nmap -v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Performance &amp; Verbosity</a:t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581025" y="5810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895600"/>
            <a:ext cx="7620000" cy="414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 txBox="1"/>
          <p:nvPr/>
        </p:nvSpPr>
        <p:spPr>
          <a:xfrm>
            <a:off x="305276" y="1276350"/>
            <a:ext cx="11581447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Ethics &amp; Lab</a:t>
            </a:r>
            <a:endParaRPr/>
          </a:p>
        </p:txBody>
      </p:sp>
      <p:pic>
        <p:nvPicPr>
          <p:cNvPr descr="image.png" id="300" name="Google Shape;30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4500" y="-180975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7"/>
          <p:cNvSpPr txBox="1"/>
          <p:nvPr/>
        </p:nvSpPr>
        <p:spPr>
          <a:xfrm>
            <a:off x="2581275" y="3190875"/>
            <a:ext cx="738092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The Rules</a:t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2581275" y="4638675"/>
            <a:ext cx="738092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Lab Tasks</a:t>
            </a:r>
            <a:endParaRPr/>
          </a:p>
        </p:txBody>
      </p:sp>
      <p:pic>
        <p:nvPicPr>
          <p:cNvPr descr="image.png" id="303" name="Google Shape;30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81275" y="32480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 txBox="1"/>
          <p:nvPr/>
        </p:nvSpPr>
        <p:spPr>
          <a:xfrm>
            <a:off x="2847975" y="37433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2962275" y="3743325"/>
            <a:ext cx="6648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Scan only authorized systems you own or have permission for.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2847975" y="40481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2962275" y="4048125"/>
            <a:ext cx="6648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 isolated labs or Capture The Flag (CTF) environments.</a:t>
            </a:r>
            <a:endParaRPr/>
          </a:p>
        </p:txBody>
      </p:sp>
      <p:pic>
        <p:nvPicPr>
          <p:cNvPr descr="image.png" id="308" name="Google Shape;30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81275" y="4695825"/>
            <a:ext cx="3048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8"/>
          <p:cNvSpPr/>
          <p:nvPr/>
        </p:nvSpPr>
        <p:spPr>
          <a:xfrm>
            <a:off x="581025" y="1773733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581025" y="2756594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581025" y="3541365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581025" y="4326135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581025" y="274706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581025" y="274706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581025" y="353184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581025" y="353184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581025" y="431661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581025" y="431661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581025" y="529947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581025" y="529947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6" name="Google Shape;32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222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8"/>
          <p:cNvSpPr txBox="1"/>
          <p:nvPr/>
        </p:nvSpPr>
        <p:spPr>
          <a:xfrm>
            <a:off x="1676400" y="191660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https://static.vecteezy.com/system/resources/previews/062/013/260/non_2x/minimalist-logo-design-for-cybersecurity-services-company-highlighting-security-themes-through-simple-shapes-and-color-palette-free-vector.jpg</a:t>
            </a:r>
            <a:endParaRPr/>
          </a:p>
        </p:txBody>
      </p:sp>
      <p:sp>
        <p:nvSpPr>
          <p:cNvPr id="328" name="Google Shape;328;p28"/>
          <p:cNvSpPr txBox="1"/>
          <p:nvPr/>
        </p:nvSpPr>
        <p:spPr>
          <a:xfrm>
            <a:off x="1676400" y="236041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329" name="Google Shape;32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9060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8"/>
          <p:cNvSpPr txBox="1"/>
          <p:nvPr/>
        </p:nvSpPr>
        <p:spPr>
          <a:xfrm>
            <a:off x="1676400" y="2899469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https://png.pngtree.com/thumb_back/fw800/background/20260112/pngtree-futuristic-blue-digital-network-grid-with-glowing-nodes-and-connections-in-image_21068420.webp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1676400" y="314518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332" name="Google Shape;33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907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8"/>
          <p:cNvSpPr txBox="1"/>
          <p:nvPr/>
        </p:nvSpPr>
        <p:spPr>
          <a:xfrm>
            <a:off x="1676400" y="368424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https://store-images.s-microsoft.com/image/apps.17806.14401632683025096.4737d292-0979-46c1-ba89-1046ba8a9659.dee3f6d1-76c9-499a-b691-78bb4c5d28ec</a:t>
            </a: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1676400" y="392995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apps.microsoft.com</a:t>
            </a:r>
            <a:endParaRPr/>
          </a:p>
        </p:txBody>
      </p:sp>
      <p:pic>
        <p:nvPicPr>
          <p:cNvPr descr="image.png" id="335" name="Google Shape;33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57467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 txBox="1"/>
          <p:nvPr/>
        </p:nvSpPr>
        <p:spPr>
          <a:xfrm>
            <a:off x="1676400" y="4469010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https://media.istockphoto.com/id/1148196201/photo/shot-of-modern-data-center-with-multiple-rows-of-operational-server-racks-modern-high-tech.jpg?s=612x612&amp;w=0&amp;k=20&amp;c=fgc6Mpefz4ekye3mryBH_GeRXkLaIuN5_-VSkBbkzFo=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1676400" y="4912816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descr="image.png" id="338" name="Google Shape;338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45842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8"/>
          <p:cNvSpPr txBox="1"/>
          <p:nvPr/>
        </p:nvSpPr>
        <p:spPr>
          <a:xfrm>
            <a:off x="1676400" y="5451871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https://static.vecteezy.com/system/resources/previews/075/891/869/non_2x/legal-protection-shield-icon-set-for-law-justice-and-rights-security-vector.jpg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1676400" y="569758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771525" y="581025"/>
            <a:ext cx="1138142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42" name="Google Shape;342;p28"/>
          <p:cNvSpPr/>
          <p:nvPr/>
        </p:nvSpPr>
        <p:spPr>
          <a:xfrm>
            <a:off x="581025" y="581025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